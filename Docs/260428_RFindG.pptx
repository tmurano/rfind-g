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70" r:id="rId2"/>
    <p:sldId id="278" r:id="rId3"/>
    <p:sldId id="288" r:id="rId4"/>
    <p:sldId id="284" r:id="rId5"/>
    <p:sldId id="276" r:id="rId6"/>
    <p:sldId id="279" r:id="rId7"/>
    <p:sldId id="287" r:id="rId8"/>
    <p:sldId id="289" r:id="rId9"/>
    <p:sldId id="290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217"/>
    <p:restoredTop sz="97081"/>
  </p:normalViewPr>
  <p:slideViewPr>
    <p:cSldViewPr snapToGrid="0">
      <p:cViewPr>
        <p:scale>
          <a:sx n="149" d="100"/>
          <a:sy n="149" d="100"/>
        </p:scale>
        <p:origin x="68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D68F0-4DB2-164D-8B00-B7B403E117A1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2ACA56-910F-0B43-8DF1-C266DE03B5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883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F06424-7C9D-0D08-2ACC-6C5435014D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E78F24C-4D29-B1A0-AAF5-BEFD536F97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F139C3-3809-8EE1-0E99-EA86E6438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090EB-9577-B448-83AE-3F83FF61B364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4FBFE2A-AAFE-3296-9DC3-4EE52838A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189A83C-F533-5B10-2227-BD508337F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E5E2F-1588-CF44-AD81-1D8FE13E28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8752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CAD3CB-94DF-BC7E-9E1F-6F3EF63D8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028F8AF-26E4-847E-E788-5FF629268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EEE956E-7B71-8E8B-8A7C-076F6FA53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090EB-9577-B448-83AE-3F83FF61B364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39DDF36-8B52-C8F4-33E6-2A0022BA5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DDBCDE1-5EF5-7152-4B2E-3D5620DAF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E5E2F-1588-CF44-AD81-1D8FE13E28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5919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572D03-E042-36C9-7672-4D7C74F82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DAE947C-59C0-C4F8-70C5-E4902BDE0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CF697E-0B14-EEE8-2FBE-83CD9A50E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090EB-9577-B448-83AE-3F83FF61B364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4AE8207-0FAA-AAD6-4E23-9F8CACB26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25C51B-B601-39CD-CAC7-2460CC18F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E5E2F-1588-CF44-AD81-1D8FE13E28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1383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F26D8F-0DD3-4720-6750-0BAECD739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3F71F2A-37FD-8344-DBD4-C2E22B17FC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A2CF8E8-B12A-6734-C9A9-07768476A1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1430CA8-69C8-622B-1019-D812D5F9C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090EB-9577-B448-83AE-3F83FF61B364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BDB79C8-CBE3-6807-A6B2-699461D1A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8B9BE1E-961B-5D0A-777A-E4F78FA7B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E5E2F-1588-CF44-AD81-1D8FE13E28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9332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EDCA47-A362-76B2-F2D7-74B419EF7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17851DE-AA57-B3EA-1CFF-5D8C849FE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909523E-6F72-DA18-89D0-47289218F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7187D59-A0DF-1507-0F0B-6EC63B1011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F45CE04-6ACF-C472-7856-7287DFE32A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534C151-86C5-0964-F7E2-C3E095FB6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090EB-9577-B448-83AE-3F83FF61B364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2461398-8699-3BD3-7AEF-D2A32DA3C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68A4D2D-3139-F186-BBA1-CF9BCCDCD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E5E2F-1588-CF44-AD81-1D8FE13E28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8231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A308C5-55CD-BDA6-BB71-D0DAC503D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ECB3A37-DA9F-C612-C85F-EC4F5633C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090EB-9577-B448-83AE-3F83FF61B364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93C1495-E8A8-9F87-A995-7AACFEFC1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921337C-D808-9D43-AFD6-29BA1B7C2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E5E2F-1588-CF44-AD81-1D8FE13E28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9781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DF2FDAA-F754-DA88-EEC6-E2DF5EF0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090EB-9577-B448-83AE-3F83FF61B364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88DE015-6E7A-2AD9-7F10-BDDADE980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55533E-1989-8B37-FBFE-D09AE22A0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E5E2F-1588-CF44-AD81-1D8FE13E28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0002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A80938-0642-6FDE-5A26-80E5918BB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6DBD680-ECF6-F906-2FA7-45C596034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B0B48A1-D75B-472D-AEDC-96F238C257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9E911F4-7E29-C7A3-47AF-4D5AE2A2C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090EB-9577-B448-83AE-3F83FF61B364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0FAC066-99C4-8554-63A2-DC8C8B497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99D1266-266C-1A93-36D2-A0056C813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E5E2F-1588-CF44-AD81-1D8FE13E28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7268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47F9EC-1B5E-BBF6-B459-FE0C29689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E307F32-A66E-1AB0-208B-1960F8069A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319ACE0-EFEA-3A6F-CC6C-AA937ACF00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6D332C8-976C-F44D-EDB6-A2026F9AE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090EB-9577-B448-83AE-3F83FF61B364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5C6E0CA-BF59-E633-7922-658E3A0E2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0B4A66D-FC27-AE78-9F85-DE3892E6D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E5E2F-1588-CF44-AD81-1D8FE13E28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7311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D3ADD6-2C00-7B69-5B2D-65712B70F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428D6D0-C26D-2749-D32B-CB0059B42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B3B38E-0988-7845-6D5F-93A978EED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090EB-9577-B448-83AE-3F83FF61B364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E5E68E0-4A03-B00F-2D93-9B4C15D4F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DF2AB2-B63F-D9AB-2928-CC7E44238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E5E2F-1588-CF44-AD81-1D8FE13E28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5471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5FC735A-22FA-77E6-0E9F-387E734D86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98BEFD7-52DC-7BF0-531E-4BCD8ECB8E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405C29-8390-71EF-D637-3C483223C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090EB-9577-B448-83AE-3F83FF61B364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FC1587-7747-4AA6-67DB-4AB0432DD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B5C2BD-6328-5184-F518-82D962E7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E5E2F-1588-CF44-AD81-1D8FE13E28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7190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3CEE4B4-63FD-FEC5-27FA-0D3CCEF59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DFA9769-26A2-B05B-A280-305721BE3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45A39D-34B1-7441-E36A-6BE8C3EDCA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5090EB-9577-B448-83AE-3F83FF61B364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91A7D90-488B-0D5C-E759-9C9293A98C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24B56F-7575-352A-667F-36B4CB3ADB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0E5E2F-1588-CF44-AD81-1D8FE13E28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7097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1622C-54F1-4FAB-B995-EE8678115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B46CBB-3C39-DB41-494F-7AEC44FC6A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 err="1"/>
              <a:t>RFind</a:t>
            </a:r>
            <a:r>
              <a:rPr kumimoji="1" lang="en-US" altLang="ja-JP" dirty="0"/>
              <a:t> for genotype data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6225953-5092-CE8D-4638-364DC3E439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22618"/>
            <a:ext cx="9144000" cy="935182"/>
          </a:xfrm>
        </p:spPr>
        <p:txBody>
          <a:bodyPr/>
          <a:lstStyle/>
          <a:p>
            <a:r>
              <a:rPr kumimoji="1" lang="en-US" altLang="ja-JP" dirty="0"/>
              <a:t>Tomoyuki Murano</a:t>
            </a:r>
          </a:p>
          <a:p>
            <a:r>
              <a:rPr lang="en-US" altLang="ja-JP" dirty="0"/>
              <a:t>2025/6/24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4545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51339-A6D3-FC98-137E-F5DA6C93C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2B9D8CE-1166-BE5D-26BC-2D93377680BE}"/>
              </a:ext>
            </a:extLst>
          </p:cNvPr>
          <p:cNvSpPr txBox="1"/>
          <p:nvPr/>
        </p:nvSpPr>
        <p:spPr>
          <a:xfrm>
            <a:off x="0" y="23969"/>
            <a:ext cx="2659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u="sng">
                <a:latin typeface="Helvetica" pitchFamily="2" charset="0"/>
                <a:ea typeface="BIZ UDGothic" panose="020B0400000000000000" pitchFamily="49" charset="-128"/>
              </a:rPr>
              <a:t>図</a:t>
            </a:r>
            <a:r>
              <a:rPr lang="en-US" altLang="ja-JP" u="sng" dirty="0">
                <a:latin typeface="Helvetica" pitchFamily="2" charset="0"/>
                <a:ea typeface="BIZ UDGothic" panose="020B0400000000000000" pitchFamily="49" charset="-128"/>
              </a:rPr>
              <a:t>1</a:t>
            </a:r>
            <a:r>
              <a:rPr kumimoji="1" lang="en-US" altLang="ja-JP" u="sng" dirty="0">
                <a:latin typeface="Helvetica" pitchFamily="2" charset="0"/>
                <a:ea typeface="BIZ UDGothic" panose="020B0400000000000000" pitchFamily="49" charset="-128"/>
              </a:rPr>
              <a:t>. </a:t>
            </a:r>
            <a:r>
              <a:rPr kumimoji="1" lang="en-US" altLang="ja-JP" u="sng" dirty="0" err="1">
                <a:latin typeface="Helvetica" pitchFamily="2" charset="0"/>
                <a:ea typeface="BIZ UDGothic" panose="020B0400000000000000" pitchFamily="49" charset="-128"/>
              </a:rPr>
              <a:t>RF</a:t>
            </a:r>
            <a:r>
              <a:rPr lang="en-US" altLang="ja-JP" u="sng" dirty="0" err="1">
                <a:latin typeface="Helvetica" pitchFamily="2" charset="0"/>
                <a:ea typeface="BIZ UDGothic" panose="020B0400000000000000" pitchFamily="49" charset="-128"/>
              </a:rPr>
              <a:t>ind</a:t>
            </a:r>
            <a:r>
              <a:rPr lang="en-US" altLang="ja-JP" u="sng" dirty="0">
                <a:latin typeface="Helvetica" pitchFamily="2" charset="0"/>
                <a:ea typeface="BIZ UDGothic" panose="020B0400000000000000" pitchFamily="49" charset="-128"/>
              </a:rPr>
              <a:t> (</a:t>
            </a:r>
            <a:r>
              <a:rPr lang="ja-JP" altLang="en-US" u="sng">
                <a:latin typeface="Helvetica" pitchFamily="2" charset="0"/>
                <a:ea typeface="BIZ UDGothic" panose="020B0400000000000000" pitchFamily="49" charset="-128"/>
              </a:rPr>
              <a:t>遺伝子発現</a:t>
            </a:r>
            <a:r>
              <a:rPr lang="en-US" altLang="ja-JP" u="sng" dirty="0">
                <a:latin typeface="Helvetica" pitchFamily="2" charset="0"/>
                <a:ea typeface="BIZ UDGothic" panose="020B0400000000000000" pitchFamily="49" charset="-128"/>
              </a:rPr>
              <a:t>)</a:t>
            </a:r>
            <a:endParaRPr kumimoji="1" lang="en-US" altLang="ja-JP" u="sng" dirty="0">
              <a:latin typeface="Helvetica" pitchFamily="2" charset="0"/>
              <a:ea typeface="BIZ UDGothic" panose="020B0400000000000000" pitchFamily="49" charset="-128"/>
            </a:endParaRPr>
          </a:p>
        </p:txBody>
      </p:sp>
      <p:graphicFrame>
        <p:nvGraphicFramePr>
          <p:cNvPr id="19" name="表 18">
            <a:extLst>
              <a:ext uri="{FF2B5EF4-FFF2-40B4-BE49-F238E27FC236}">
                <a16:creationId xmlns:a16="http://schemas.microsoft.com/office/drawing/2014/main" id="{CDAE9469-BAC9-CCF3-3875-4E7B382501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592187"/>
              </p:ext>
            </p:extLst>
          </p:nvPr>
        </p:nvGraphicFramePr>
        <p:xfrm>
          <a:off x="244496" y="1553035"/>
          <a:ext cx="4034103" cy="263810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69356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738375">
                  <a:extLst>
                    <a:ext uri="{9D8B030D-6E8A-4147-A177-3AD203B41FA5}">
                      <a16:colId xmlns:a16="http://schemas.microsoft.com/office/drawing/2014/main" val="979457837"/>
                    </a:ext>
                  </a:extLst>
                </a:gridCol>
                <a:gridCol w="631593">
                  <a:extLst>
                    <a:ext uri="{9D8B030D-6E8A-4147-A177-3AD203B41FA5}">
                      <a16:colId xmlns:a16="http://schemas.microsoft.com/office/drawing/2014/main" val="3014122248"/>
                    </a:ext>
                  </a:extLst>
                </a:gridCol>
                <a:gridCol w="631593">
                  <a:extLst>
                    <a:ext uri="{9D8B030D-6E8A-4147-A177-3AD203B41FA5}">
                      <a16:colId xmlns:a16="http://schemas.microsoft.com/office/drawing/2014/main" val="749385589"/>
                    </a:ext>
                  </a:extLst>
                </a:gridCol>
                <a:gridCol w="631593">
                  <a:extLst>
                    <a:ext uri="{9D8B030D-6E8A-4147-A177-3AD203B41FA5}">
                      <a16:colId xmlns:a16="http://schemas.microsoft.com/office/drawing/2014/main" val="3831523211"/>
                    </a:ext>
                  </a:extLst>
                </a:gridCol>
                <a:gridCol w="631593">
                  <a:extLst>
                    <a:ext uri="{9D8B030D-6E8A-4147-A177-3AD203B41FA5}">
                      <a16:colId xmlns:a16="http://schemas.microsoft.com/office/drawing/2014/main" val="1726811639"/>
                    </a:ext>
                  </a:extLst>
                </a:gridCol>
              </a:tblGrid>
              <a:tr h="33722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gene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Control01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Control02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Control03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Control04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Control05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WASH7P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2.36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4.07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0.78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1.37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1.02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MIR6859-1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5.49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5.58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5.92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2.41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1.65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RPL23AP24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1.31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4.56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2.05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5.66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3.53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MTCO1P12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12.21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282.87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6.12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258.28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20.59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86091349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LINC01128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5.50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5.73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5.92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5.45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6.47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50455537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LINC00115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1.78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1.35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2.46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1.94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1.58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17950858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NOC2L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7.85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6.73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6.82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7.61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7.83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08610093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KLHL17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1.34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1.06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1.05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0.59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1.05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70161156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AGRN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0.63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0.67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0.47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0.51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0.73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52199730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C1orf159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2.15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2.01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1.96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1.56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1.95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20139096"/>
                  </a:ext>
                </a:extLst>
              </a:tr>
            </a:tbl>
          </a:graphicData>
        </a:graphic>
      </p:graphicFrame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BB12B3BF-02AB-2059-5FC6-EA8259AD4672}"/>
              </a:ext>
            </a:extLst>
          </p:cNvPr>
          <p:cNvSpPr txBox="1"/>
          <p:nvPr/>
        </p:nvSpPr>
        <p:spPr>
          <a:xfrm>
            <a:off x="355709" y="1153999"/>
            <a:ext cx="359265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個人毎遺伝子発現マトリクス</a:t>
            </a:r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(FPKM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等</a:t>
            </a:r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)</a:t>
            </a:r>
            <a:endParaRPr lang="ja-JP" altLang="en-US" sz="1500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E94113F-B5C5-FF6F-3D95-E2628F306FEB}"/>
              </a:ext>
            </a:extLst>
          </p:cNvPr>
          <p:cNvSpPr txBox="1"/>
          <p:nvPr/>
        </p:nvSpPr>
        <p:spPr>
          <a:xfrm>
            <a:off x="6709679" y="2904798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個人を特徴づける</a:t>
            </a:r>
            <a:endParaRPr kumimoji="1" lang="en-US" altLang="ja-JP" sz="1500" dirty="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  <a:p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遺伝子リスト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86F0476-53F3-DF00-D942-661A40B54D88}"/>
              </a:ext>
            </a:extLst>
          </p:cNvPr>
          <p:cNvSpPr txBox="1"/>
          <p:nvPr/>
        </p:nvSpPr>
        <p:spPr>
          <a:xfrm>
            <a:off x="9822496" y="233286"/>
            <a:ext cx="141256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参照リスト</a:t>
            </a:r>
            <a:endParaRPr kumimoji="1" lang="en-US" altLang="ja-JP" sz="1500" dirty="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  <a:p>
            <a:r>
              <a:rPr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(</a:t>
            </a:r>
            <a:r>
              <a:rPr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例</a:t>
            </a:r>
            <a:r>
              <a:rPr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: </a:t>
            </a:r>
            <a:r>
              <a:rPr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発達</a:t>
            </a:r>
            <a:r>
              <a:rPr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DEG)</a:t>
            </a:r>
            <a:endParaRPr kumimoji="1" lang="ja-JP" altLang="en-US" sz="150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A1385E31-3DC8-0F8A-AC56-1C7018EC6D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4550333"/>
              </p:ext>
            </p:extLst>
          </p:nvPr>
        </p:nvGraphicFramePr>
        <p:xfrm>
          <a:off x="9772256" y="820365"/>
          <a:ext cx="1507730" cy="273144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69356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738374">
                  <a:extLst>
                    <a:ext uri="{9D8B030D-6E8A-4147-A177-3AD203B41FA5}">
                      <a16:colId xmlns:a16="http://schemas.microsoft.com/office/drawing/2014/main" val="979457837"/>
                    </a:ext>
                  </a:extLst>
                </a:gridCol>
              </a:tblGrid>
              <a:tr h="38251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gene</a:t>
                      </a:r>
                    </a:p>
                  </a:txBody>
                  <a:tcPr marL="9525" marR="9525" marT="9525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Fold Change</a:t>
                      </a:r>
                    </a:p>
                  </a:txBody>
                  <a:tcPr marL="9525" marR="9525" marT="9525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AQP4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243.4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AGT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99.1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PMP2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65.1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86091349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H1-5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-58.9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50455537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TTR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-54.2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17950858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RPS4Y1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-50.8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08610093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HBE1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-45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70161156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HMGA2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-44.9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52199730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IGF2BP1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-42.6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20139096"/>
                  </a:ext>
                </a:extLst>
              </a:tr>
            </a:tbl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55E8611-BBC9-5189-914D-59CDB1B66464}"/>
              </a:ext>
            </a:extLst>
          </p:cNvPr>
          <p:cNvSpPr txBox="1"/>
          <p:nvPr/>
        </p:nvSpPr>
        <p:spPr>
          <a:xfrm>
            <a:off x="6597149" y="4395927"/>
            <a:ext cx="185499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500" dirty="0">
                <a:latin typeface="Arial" panose="020B0604020202020204" pitchFamily="34" charset="0"/>
                <a:cs typeface="Arial" panose="020B0604020202020204" pitchFamily="34" charset="0"/>
              </a:rPr>
              <a:t>Running Fisher test</a:t>
            </a:r>
            <a:endParaRPr kumimoji="1" lang="ja-JP" altLang="en-US" sz="1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D042E82-2744-1C5E-B0FA-2AFC91DED586}"/>
              </a:ext>
            </a:extLst>
          </p:cNvPr>
          <p:cNvSpPr txBox="1"/>
          <p:nvPr/>
        </p:nvSpPr>
        <p:spPr>
          <a:xfrm>
            <a:off x="6436659" y="851854"/>
            <a:ext cx="195117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個人</a:t>
            </a:r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Deviation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リスト</a:t>
            </a:r>
          </a:p>
        </p:txBody>
      </p:sp>
      <p:sp>
        <p:nvSpPr>
          <p:cNvPr id="9" name="右矢印 8">
            <a:extLst>
              <a:ext uri="{FF2B5EF4-FFF2-40B4-BE49-F238E27FC236}">
                <a16:creationId xmlns:a16="http://schemas.microsoft.com/office/drawing/2014/main" id="{DA45D7BB-8D4A-2725-0134-00B640F305F4}"/>
              </a:ext>
            </a:extLst>
          </p:cNvPr>
          <p:cNvSpPr/>
          <p:nvPr/>
        </p:nvSpPr>
        <p:spPr>
          <a:xfrm>
            <a:off x="5036052" y="2569682"/>
            <a:ext cx="834465" cy="513289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CF8AE045-BEA4-48E0-C63E-A553A731B8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2309697"/>
              </p:ext>
            </p:extLst>
          </p:nvPr>
        </p:nvGraphicFramePr>
        <p:xfrm>
          <a:off x="6709679" y="1260790"/>
          <a:ext cx="1507730" cy="148766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69356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738374">
                  <a:extLst>
                    <a:ext uri="{9D8B030D-6E8A-4147-A177-3AD203B41FA5}">
                      <a16:colId xmlns:a16="http://schemas.microsoft.com/office/drawing/2014/main" val="979457837"/>
                    </a:ext>
                  </a:extLst>
                </a:gridCol>
              </a:tblGrid>
              <a:tr h="33722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gene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Control01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KLHL17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1.31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MIR6859-1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1.30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WASH7P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1.23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50455537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RPL23AP24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0.38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52199730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MTCO1P12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0.11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20139096"/>
                  </a:ext>
                </a:extLst>
              </a:tr>
            </a:tbl>
          </a:graphicData>
        </a:graphic>
      </p:graphicFrame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85EF88E-017E-F907-9E8B-836FFD5C3330}"/>
              </a:ext>
            </a:extLst>
          </p:cNvPr>
          <p:cNvSpPr txBox="1"/>
          <p:nvPr/>
        </p:nvSpPr>
        <p:spPr>
          <a:xfrm>
            <a:off x="9282510" y="3629683"/>
            <a:ext cx="25346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変化</a:t>
            </a:r>
            <a:r>
              <a:rPr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(</a:t>
            </a:r>
            <a:r>
              <a:rPr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例</a:t>
            </a:r>
            <a:r>
              <a:rPr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: </a:t>
            </a:r>
            <a:r>
              <a:rPr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発達</a:t>
            </a:r>
            <a:r>
              <a:rPr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)</a:t>
            </a:r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を特徴づける</a:t>
            </a:r>
            <a:endParaRPr kumimoji="1" lang="en-US" altLang="ja-JP" sz="1500" dirty="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  <a:p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遺伝子リスト</a:t>
            </a:r>
          </a:p>
        </p:txBody>
      </p:sp>
      <p:pic>
        <p:nvPicPr>
          <p:cNvPr id="14" name="Picture 4" descr="標準男性ピクトグラム">
            <a:extLst>
              <a:ext uri="{FF2B5EF4-FFF2-40B4-BE49-F238E27FC236}">
                <a16:creationId xmlns:a16="http://schemas.microsoft.com/office/drawing/2014/main" id="{41879D3B-A71F-97F2-5BF1-660ECDEF1B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8256" y="4693967"/>
            <a:ext cx="864000" cy="86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0BA5635-73A9-F71C-F6D7-12CF818D897C}"/>
              </a:ext>
            </a:extLst>
          </p:cNvPr>
          <p:cNvSpPr txBox="1"/>
          <p:nvPr/>
        </p:nvSpPr>
        <p:spPr>
          <a:xfrm>
            <a:off x="7570474" y="5597210"/>
            <a:ext cx="3868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i="1" kern="100" dirty="0" err="1">
                <a:solidFill>
                  <a:srgbClr val="FF0000"/>
                </a:solidFill>
                <a:latin typeface="Arial" panose="020B0604020202020204" pitchFamily="34" charset="0"/>
                <a:ea typeface="BIZ UDゴシック" panose="020B0400000000000000" pitchFamily="49" charset="-128"/>
                <a:cs typeface="Arial" panose="020B0604020202020204" pitchFamily="34" charset="0"/>
              </a:rPr>
              <a:t>RFscore</a:t>
            </a:r>
            <a:r>
              <a:rPr lang="en-US" altLang="ja-JP" i="1" kern="100" dirty="0">
                <a:solidFill>
                  <a:srgbClr val="FF0000"/>
                </a:solidFill>
                <a:latin typeface="Arial" panose="020B0604020202020204" pitchFamily="34" charset="0"/>
                <a:ea typeface="BIZ UDゴシック" panose="020B0400000000000000" pitchFamily="49" charset="-128"/>
                <a:cs typeface="Arial" panose="020B0604020202020204" pitchFamily="34" charset="0"/>
              </a:rPr>
              <a:t> </a:t>
            </a:r>
            <a:r>
              <a:rPr lang="en-US" altLang="ja-JP" i="1" kern="100" dirty="0">
                <a:latin typeface="Arial" panose="020B0604020202020204" pitchFamily="34" charset="0"/>
                <a:ea typeface="BIZ UDゴシック" panose="020B0400000000000000" pitchFamily="49" charset="-128"/>
                <a:cs typeface="Arial" panose="020B0604020202020204" pitchFamily="34" charset="0"/>
              </a:rPr>
              <a:t>= </a:t>
            </a:r>
            <a:r>
              <a:rPr lang="ja-JP" altLang="ja-JP" i="1" kern="100">
                <a:latin typeface="Arial" panose="020B0604020202020204" pitchFamily="34" charset="0"/>
                <a:ea typeface="BIZ UDゴシック" panose="020B0400000000000000" pitchFamily="49" charset="-128"/>
                <a:cs typeface="Arial" panose="020B0604020202020204" pitchFamily="34" charset="0"/>
              </a:rPr>
              <a:t>−</a:t>
            </a:r>
            <a:r>
              <a:rPr lang="en-US" altLang="ja-JP" i="1" kern="100" dirty="0">
                <a:latin typeface="Arial" panose="020B0604020202020204" pitchFamily="34" charset="0"/>
                <a:ea typeface="BIZ UDゴシック" panose="020B0400000000000000" pitchFamily="49" charset="-128"/>
                <a:cs typeface="Arial" panose="020B0604020202020204" pitchFamily="34" charset="0"/>
              </a:rPr>
              <a:t> log</a:t>
            </a:r>
            <a:r>
              <a:rPr lang="en-US" altLang="ja-JP" i="1" kern="100" baseline="-25000" dirty="0">
                <a:latin typeface="Arial" panose="020B0604020202020204" pitchFamily="34" charset="0"/>
                <a:ea typeface="BIZ UDゴシック" panose="020B0400000000000000" pitchFamily="49" charset="-128"/>
                <a:cs typeface="Arial" panose="020B0604020202020204" pitchFamily="34" charset="0"/>
              </a:rPr>
              <a:t>10</a:t>
            </a:r>
            <a:r>
              <a:rPr lang="en-US" altLang="ja-JP" i="1" kern="100" dirty="0">
                <a:latin typeface="Arial" panose="020B0604020202020204" pitchFamily="34" charset="0"/>
                <a:ea typeface="BIZ UDゴシック" panose="020B0400000000000000" pitchFamily="49" charset="-128"/>
                <a:cs typeface="Arial" panose="020B0604020202020204" pitchFamily="34" charset="0"/>
              </a:rPr>
              <a:t>(Overlap P-value)</a:t>
            </a:r>
            <a:endParaRPr kumimoji="1" lang="ja-JP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D9E6FF0-8749-B2C4-B7A0-593CC4037C69}"/>
              </a:ext>
            </a:extLst>
          </p:cNvPr>
          <p:cNvSpPr txBox="1"/>
          <p:nvPr/>
        </p:nvSpPr>
        <p:spPr>
          <a:xfrm>
            <a:off x="8724717" y="212336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vs</a:t>
            </a:r>
            <a:endParaRPr kumimoji="1" lang="ja-JP" altLang="en-US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32" name="右矢印 31">
            <a:extLst>
              <a:ext uri="{FF2B5EF4-FFF2-40B4-BE49-F238E27FC236}">
                <a16:creationId xmlns:a16="http://schemas.microsoft.com/office/drawing/2014/main" id="{0221E5D5-BFBC-9A1E-8CE1-37E92ADD63A3}"/>
              </a:ext>
            </a:extLst>
          </p:cNvPr>
          <p:cNvSpPr/>
          <p:nvPr/>
        </p:nvSpPr>
        <p:spPr>
          <a:xfrm>
            <a:off x="7277354" y="4788636"/>
            <a:ext cx="834465" cy="513289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F5A4223-9418-AFDA-7492-617F1C8A133E}"/>
              </a:ext>
            </a:extLst>
          </p:cNvPr>
          <p:cNvSpPr txBox="1"/>
          <p:nvPr/>
        </p:nvSpPr>
        <p:spPr>
          <a:xfrm>
            <a:off x="160004" y="708796"/>
            <a:ext cx="518091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Helvetica" pitchFamily="2" charset="0"/>
                <a:ea typeface="BIZ UDGothic" panose="020B0400000000000000" pitchFamily="49" charset="-128"/>
              </a:rPr>
              <a:t>1</a:t>
            </a:r>
            <a:r>
              <a:rPr kumimoji="1" lang="en-US" altLang="ja-JP" dirty="0">
                <a:latin typeface="Helvetica" pitchFamily="2" charset="0"/>
                <a:ea typeface="BIZ UDGothic" panose="020B0400000000000000" pitchFamily="49" charset="-128"/>
              </a:rPr>
              <a:t>-1</a:t>
            </a:r>
            <a:endParaRPr kumimoji="1" lang="ja-JP" altLang="en-US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2639EDF-2370-1E78-E01C-4D2287EEB1DB}"/>
              </a:ext>
            </a:extLst>
          </p:cNvPr>
          <p:cNvSpPr txBox="1"/>
          <p:nvPr/>
        </p:nvSpPr>
        <p:spPr>
          <a:xfrm>
            <a:off x="7873441" y="6132621"/>
            <a:ext cx="326243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個人毎に遺伝子発現パターンを評価</a:t>
            </a:r>
          </a:p>
        </p:txBody>
      </p:sp>
    </p:spTree>
    <p:extLst>
      <p:ext uri="{BB962C8B-B14F-4D97-AF65-F5344CB8AC3E}">
        <p14:creationId xmlns:p14="http://schemas.microsoft.com/office/powerpoint/2010/main" val="630742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E5BA4-D2FE-1564-DD14-A224A5709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895FCCE-CA14-13E8-C337-E4D32181D9BC}"/>
              </a:ext>
            </a:extLst>
          </p:cNvPr>
          <p:cNvSpPr txBox="1"/>
          <p:nvPr/>
        </p:nvSpPr>
        <p:spPr>
          <a:xfrm>
            <a:off x="0" y="23969"/>
            <a:ext cx="2454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u="sng">
                <a:latin typeface="Helvetica" pitchFamily="2" charset="0"/>
                <a:ea typeface="BIZ UDGothic" panose="020B0400000000000000" pitchFamily="49" charset="-128"/>
              </a:rPr>
              <a:t>図</a:t>
            </a:r>
            <a:r>
              <a:rPr lang="en-US" altLang="ja-JP" u="sng" dirty="0">
                <a:latin typeface="Helvetica" pitchFamily="2" charset="0"/>
                <a:ea typeface="BIZ UDGothic" panose="020B0400000000000000" pitchFamily="49" charset="-128"/>
              </a:rPr>
              <a:t>1</a:t>
            </a:r>
            <a:r>
              <a:rPr kumimoji="1" lang="en-US" altLang="ja-JP" u="sng" dirty="0">
                <a:latin typeface="Helvetica" pitchFamily="2" charset="0"/>
                <a:ea typeface="BIZ UDGothic" panose="020B0400000000000000" pitchFamily="49" charset="-128"/>
              </a:rPr>
              <a:t>. </a:t>
            </a:r>
            <a:r>
              <a:rPr kumimoji="1" lang="en-US" altLang="ja-JP" u="sng" dirty="0" err="1">
                <a:latin typeface="Helvetica" pitchFamily="2" charset="0"/>
                <a:ea typeface="BIZ UDGothic" panose="020B0400000000000000" pitchFamily="49" charset="-128"/>
              </a:rPr>
              <a:t>RF</a:t>
            </a:r>
            <a:r>
              <a:rPr lang="en-US" altLang="ja-JP" u="sng" dirty="0" err="1">
                <a:latin typeface="Helvetica" pitchFamily="2" charset="0"/>
                <a:ea typeface="BIZ UDGothic" panose="020B0400000000000000" pitchFamily="49" charset="-128"/>
              </a:rPr>
              <a:t>ind</a:t>
            </a:r>
            <a:r>
              <a:rPr lang="en-US" altLang="ja-JP" u="sng" dirty="0">
                <a:latin typeface="Helvetica" pitchFamily="2" charset="0"/>
                <a:ea typeface="BIZ UDGothic" panose="020B0400000000000000" pitchFamily="49" charset="-128"/>
              </a:rPr>
              <a:t> (genotype)</a:t>
            </a:r>
            <a:endParaRPr kumimoji="1" lang="en-US" altLang="ja-JP" u="sng" dirty="0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C403B824-03D4-410E-5E2C-2A9CA1A93DD2}"/>
              </a:ext>
            </a:extLst>
          </p:cNvPr>
          <p:cNvSpPr txBox="1"/>
          <p:nvPr/>
        </p:nvSpPr>
        <p:spPr>
          <a:xfrm>
            <a:off x="1499635" y="1198994"/>
            <a:ext cx="213231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個人毎</a:t>
            </a:r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genotype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データ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8316680-C8BD-D16B-9D12-8EB2AE0304D8}"/>
              </a:ext>
            </a:extLst>
          </p:cNvPr>
          <p:cNvSpPr txBox="1"/>
          <p:nvPr/>
        </p:nvSpPr>
        <p:spPr>
          <a:xfrm>
            <a:off x="6728595" y="3591079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個人を特徴づける</a:t>
            </a:r>
            <a:endParaRPr kumimoji="1" lang="en-US" altLang="ja-JP" sz="1500" dirty="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  <a:p>
            <a:r>
              <a:rPr kumimoji="1"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SNP</a:t>
            </a:r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リスト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91931F4-568B-755A-9C10-FE21FF10D954}"/>
              </a:ext>
            </a:extLst>
          </p:cNvPr>
          <p:cNvSpPr txBox="1"/>
          <p:nvPr/>
        </p:nvSpPr>
        <p:spPr>
          <a:xfrm>
            <a:off x="9803139" y="339774"/>
            <a:ext cx="117852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参照リスト</a:t>
            </a:r>
            <a:endParaRPr kumimoji="1" lang="en-US" altLang="ja-JP" sz="1500" dirty="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  <a:p>
            <a:r>
              <a:rPr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(</a:t>
            </a:r>
            <a:r>
              <a:rPr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例</a:t>
            </a:r>
            <a:r>
              <a:rPr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: beta</a:t>
            </a:r>
            <a:r>
              <a:rPr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値</a:t>
            </a:r>
            <a:r>
              <a:rPr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)</a:t>
            </a:r>
            <a:endParaRPr kumimoji="1" lang="ja-JP" altLang="en-US" sz="150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08EDBE93-AFBE-E465-C290-20675FA031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005951"/>
              </p:ext>
            </p:extLst>
          </p:nvPr>
        </p:nvGraphicFramePr>
        <p:xfrm>
          <a:off x="9425205" y="893772"/>
          <a:ext cx="1934396" cy="273144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46517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887879">
                  <a:extLst>
                    <a:ext uri="{9D8B030D-6E8A-4147-A177-3AD203B41FA5}">
                      <a16:colId xmlns:a16="http://schemas.microsoft.com/office/drawing/2014/main" val="979457837"/>
                    </a:ext>
                  </a:extLst>
                </a:gridCol>
              </a:tblGrid>
              <a:tr h="38251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SNP</a:t>
                      </a:r>
                    </a:p>
                  </a:txBody>
                  <a:tcPr marL="9525" marR="9525" marT="9525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Beta</a:t>
                      </a:r>
                    </a:p>
                  </a:txBody>
                  <a:tcPr marL="9525" marR="9525" marT="9525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SNP_A-1507322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-0.03163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SNP_A-1507323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0.016633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SNP_A-1507325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-0.02117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86091349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SNP_A-1507326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-0.00961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50455537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SNP_A-1507327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0.008259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17950858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SNP_A-1507329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0.032585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08610093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SNP_A-1507330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-0.00305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70161156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SNP_A-1507331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-0.62486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52199730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SNP_A-1507332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0.017351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20139096"/>
                  </a:ext>
                </a:extLst>
              </a:tr>
            </a:tbl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DFCF51B-CB86-8C87-FDF4-53CF2D20857E}"/>
              </a:ext>
            </a:extLst>
          </p:cNvPr>
          <p:cNvSpPr txBox="1"/>
          <p:nvPr/>
        </p:nvSpPr>
        <p:spPr>
          <a:xfrm>
            <a:off x="6597149" y="4552118"/>
            <a:ext cx="185499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500" dirty="0">
                <a:latin typeface="Arial" panose="020B0604020202020204" pitchFamily="34" charset="0"/>
                <a:cs typeface="Arial" panose="020B0604020202020204" pitchFamily="34" charset="0"/>
              </a:rPr>
              <a:t>Running Fisher test</a:t>
            </a:r>
            <a:endParaRPr kumimoji="1" lang="ja-JP" altLang="en-US" sz="1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2869378-F425-D4BB-81DF-FC47A620BE3C}"/>
              </a:ext>
            </a:extLst>
          </p:cNvPr>
          <p:cNvSpPr txBox="1"/>
          <p:nvPr/>
        </p:nvSpPr>
        <p:spPr>
          <a:xfrm>
            <a:off x="6516869" y="522993"/>
            <a:ext cx="195117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個人</a:t>
            </a:r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Deviation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リスト</a:t>
            </a:r>
          </a:p>
        </p:txBody>
      </p:sp>
      <p:sp>
        <p:nvSpPr>
          <p:cNvPr id="9" name="右矢印 8">
            <a:extLst>
              <a:ext uri="{FF2B5EF4-FFF2-40B4-BE49-F238E27FC236}">
                <a16:creationId xmlns:a16="http://schemas.microsoft.com/office/drawing/2014/main" id="{4C79AF6A-3FB9-E58F-1087-447F6A9B0914}"/>
              </a:ext>
            </a:extLst>
          </p:cNvPr>
          <p:cNvSpPr/>
          <p:nvPr/>
        </p:nvSpPr>
        <p:spPr>
          <a:xfrm>
            <a:off x="5525768" y="2270430"/>
            <a:ext cx="834465" cy="513289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290B8145-069E-F039-198D-A9D57ECA0F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7858339"/>
              </p:ext>
            </p:extLst>
          </p:nvPr>
        </p:nvGraphicFramePr>
        <p:xfrm>
          <a:off x="6790321" y="893772"/>
          <a:ext cx="1507730" cy="263810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45074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462656">
                  <a:extLst>
                    <a:ext uri="{9D8B030D-6E8A-4147-A177-3AD203B41FA5}">
                      <a16:colId xmlns:a16="http://schemas.microsoft.com/office/drawing/2014/main" val="979457837"/>
                    </a:ext>
                  </a:extLst>
                </a:gridCol>
              </a:tblGrid>
              <a:tr h="33722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SNP_ID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Control01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21.82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50455537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52199730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20139096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1.678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96487614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73165468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16159204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00237598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02068851"/>
                  </a:ext>
                </a:extLst>
              </a:tr>
            </a:tbl>
          </a:graphicData>
        </a:graphic>
      </p:graphicFrame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B2D5884-790E-ED1D-0F63-EF69C000B950}"/>
              </a:ext>
            </a:extLst>
          </p:cNvPr>
          <p:cNvSpPr txBox="1"/>
          <p:nvPr/>
        </p:nvSpPr>
        <p:spPr>
          <a:xfrm>
            <a:off x="9636052" y="3643501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疾患</a:t>
            </a:r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を特徴づける</a:t>
            </a:r>
            <a:endParaRPr kumimoji="1" lang="en-US" altLang="ja-JP" sz="1500" dirty="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  <a:p>
            <a:r>
              <a:rPr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SNP</a:t>
            </a:r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リスト</a:t>
            </a:r>
          </a:p>
        </p:txBody>
      </p:sp>
      <p:pic>
        <p:nvPicPr>
          <p:cNvPr id="14" name="Picture 4" descr="標準男性ピクトグラム">
            <a:extLst>
              <a:ext uri="{FF2B5EF4-FFF2-40B4-BE49-F238E27FC236}">
                <a16:creationId xmlns:a16="http://schemas.microsoft.com/office/drawing/2014/main" id="{D726D1F2-6C6A-B69B-E670-12122CCF38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8256" y="4771750"/>
            <a:ext cx="864000" cy="86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7F18A51-351B-FEE5-14C2-2CBD7712C2BC}"/>
              </a:ext>
            </a:extLst>
          </p:cNvPr>
          <p:cNvSpPr txBox="1"/>
          <p:nvPr/>
        </p:nvSpPr>
        <p:spPr>
          <a:xfrm>
            <a:off x="7570474" y="5753401"/>
            <a:ext cx="3868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i="1" kern="100" dirty="0" err="1">
                <a:solidFill>
                  <a:srgbClr val="FF0000"/>
                </a:solidFill>
                <a:latin typeface="Arial" panose="020B0604020202020204" pitchFamily="34" charset="0"/>
                <a:ea typeface="BIZ UDゴシック" panose="020B0400000000000000" pitchFamily="49" charset="-128"/>
                <a:cs typeface="Arial" panose="020B0604020202020204" pitchFamily="34" charset="0"/>
              </a:rPr>
              <a:t>RFscore</a:t>
            </a:r>
            <a:r>
              <a:rPr lang="en-US" altLang="ja-JP" i="1" kern="100" dirty="0">
                <a:solidFill>
                  <a:srgbClr val="FF0000"/>
                </a:solidFill>
                <a:latin typeface="Arial" panose="020B0604020202020204" pitchFamily="34" charset="0"/>
                <a:ea typeface="BIZ UDゴシック" panose="020B0400000000000000" pitchFamily="49" charset="-128"/>
                <a:cs typeface="Arial" panose="020B0604020202020204" pitchFamily="34" charset="0"/>
              </a:rPr>
              <a:t> </a:t>
            </a:r>
            <a:r>
              <a:rPr lang="en-US" altLang="ja-JP" i="1" kern="100" dirty="0">
                <a:latin typeface="Arial" panose="020B0604020202020204" pitchFamily="34" charset="0"/>
                <a:ea typeface="BIZ UDゴシック" panose="020B0400000000000000" pitchFamily="49" charset="-128"/>
                <a:cs typeface="Arial" panose="020B0604020202020204" pitchFamily="34" charset="0"/>
              </a:rPr>
              <a:t>= </a:t>
            </a:r>
            <a:r>
              <a:rPr lang="ja-JP" altLang="ja-JP" i="1" kern="100">
                <a:latin typeface="Arial" panose="020B0604020202020204" pitchFamily="34" charset="0"/>
                <a:ea typeface="BIZ UDゴシック" panose="020B0400000000000000" pitchFamily="49" charset="-128"/>
                <a:cs typeface="Arial" panose="020B0604020202020204" pitchFamily="34" charset="0"/>
              </a:rPr>
              <a:t>−</a:t>
            </a:r>
            <a:r>
              <a:rPr lang="en-US" altLang="ja-JP" i="1" kern="100" dirty="0">
                <a:latin typeface="Arial" panose="020B0604020202020204" pitchFamily="34" charset="0"/>
                <a:ea typeface="BIZ UDゴシック" panose="020B0400000000000000" pitchFamily="49" charset="-128"/>
                <a:cs typeface="Arial" panose="020B0604020202020204" pitchFamily="34" charset="0"/>
              </a:rPr>
              <a:t> log</a:t>
            </a:r>
            <a:r>
              <a:rPr lang="en-US" altLang="ja-JP" i="1" kern="100" baseline="-25000" dirty="0">
                <a:latin typeface="Arial" panose="020B0604020202020204" pitchFamily="34" charset="0"/>
                <a:ea typeface="BIZ UDゴシック" panose="020B0400000000000000" pitchFamily="49" charset="-128"/>
                <a:cs typeface="Arial" panose="020B0604020202020204" pitchFamily="34" charset="0"/>
              </a:rPr>
              <a:t>10</a:t>
            </a:r>
            <a:r>
              <a:rPr lang="en-US" altLang="ja-JP" i="1" kern="100" dirty="0">
                <a:latin typeface="Arial" panose="020B0604020202020204" pitchFamily="34" charset="0"/>
                <a:ea typeface="BIZ UDゴシック" panose="020B0400000000000000" pitchFamily="49" charset="-128"/>
                <a:cs typeface="Arial" panose="020B0604020202020204" pitchFamily="34" charset="0"/>
              </a:rPr>
              <a:t>(Overlap P-value)</a:t>
            </a:r>
            <a:endParaRPr kumimoji="1" lang="ja-JP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06596B4-B379-C468-D7AD-E1FA9078277D}"/>
              </a:ext>
            </a:extLst>
          </p:cNvPr>
          <p:cNvSpPr txBox="1"/>
          <p:nvPr/>
        </p:nvSpPr>
        <p:spPr>
          <a:xfrm>
            <a:off x="8724717" y="179450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vs</a:t>
            </a:r>
            <a:endParaRPr kumimoji="1" lang="ja-JP" altLang="en-US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32" name="右矢印 31">
            <a:extLst>
              <a:ext uri="{FF2B5EF4-FFF2-40B4-BE49-F238E27FC236}">
                <a16:creationId xmlns:a16="http://schemas.microsoft.com/office/drawing/2014/main" id="{98038083-CCC8-9406-0B6F-AEE2F408681F}"/>
              </a:ext>
            </a:extLst>
          </p:cNvPr>
          <p:cNvSpPr/>
          <p:nvPr/>
        </p:nvSpPr>
        <p:spPr>
          <a:xfrm>
            <a:off x="7277354" y="4944827"/>
            <a:ext cx="834465" cy="513289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CF8A190-D1A1-D450-270E-1905A23C52A8}"/>
              </a:ext>
            </a:extLst>
          </p:cNvPr>
          <p:cNvSpPr txBox="1"/>
          <p:nvPr/>
        </p:nvSpPr>
        <p:spPr>
          <a:xfrm>
            <a:off x="8111819" y="6195061"/>
            <a:ext cx="249299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個人毎に疾患リスクを推定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EB1F818-B788-19C2-6BA3-665AEB3B0C00}"/>
              </a:ext>
            </a:extLst>
          </p:cNvPr>
          <p:cNvSpPr txBox="1"/>
          <p:nvPr/>
        </p:nvSpPr>
        <p:spPr>
          <a:xfrm>
            <a:off x="160004" y="708796"/>
            <a:ext cx="518091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Helvetica" pitchFamily="2" charset="0"/>
                <a:ea typeface="BIZ UDGothic" panose="020B0400000000000000" pitchFamily="49" charset="-128"/>
              </a:rPr>
              <a:t>1</a:t>
            </a:r>
            <a:r>
              <a:rPr kumimoji="1" lang="en-US" altLang="ja-JP" dirty="0">
                <a:latin typeface="Helvetica" pitchFamily="2" charset="0"/>
                <a:ea typeface="BIZ UDGothic" panose="020B0400000000000000" pitchFamily="49" charset="-128"/>
              </a:rPr>
              <a:t>-2</a:t>
            </a:r>
            <a:endParaRPr kumimoji="1" lang="ja-JP" altLang="en-US">
              <a:latin typeface="Helvetica" pitchFamily="2" charset="0"/>
              <a:ea typeface="BIZ UDGothic" panose="020B0400000000000000" pitchFamily="49" charset="-128"/>
            </a:endParaRPr>
          </a:p>
        </p:txBody>
      </p:sp>
      <p:graphicFrame>
        <p:nvGraphicFramePr>
          <p:cNvPr id="11" name="表 10">
            <a:extLst>
              <a:ext uri="{FF2B5EF4-FFF2-40B4-BE49-F238E27FC236}">
                <a16:creationId xmlns:a16="http://schemas.microsoft.com/office/drawing/2014/main" id="{B369FDF7-CB5F-CEB9-7D98-544EE8759D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32290"/>
              </p:ext>
            </p:extLst>
          </p:nvPr>
        </p:nvGraphicFramePr>
        <p:xfrm>
          <a:off x="219978" y="1643024"/>
          <a:ext cx="5020800" cy="263810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49168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979457837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3014122248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749385589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3831523211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1726811639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3414967065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1277688133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3669988584"/>
                    </a:ext>
                  </a:extLst>
                </a:gridCol>
              </a:tblGrid>
              <a:tr h="33722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AlleleA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  <a:ea typeface="游ゴシック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AlleleB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  <a:ea typeface="游ゴシック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Risk_</a:t>
                      </a:r>
                    </a:p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Allele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Control_0001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Control_0002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Control_0003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Control_0004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Control_0005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86091349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NA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50455537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17950858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08610093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70161156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52199730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NA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20139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4114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C3F5B-BDFC-72F1-9488-127A837B7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EE34599-3F75-C14C-C55A-63DEC72D8469}"/>
              </a:ext>
            </a:extLst>
          </p:cNvPr>
          <p:cNvSpPr txBox="1"/>
          <p:nvPr/>
        </p:nvSpPr>
        <p:spPr>
          <a:xfrm>
            <a:off x="0" y="23969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u="sng">
                <a:latin typeface="Helvetica" pitchFamily="2" charset="0"/>
                <a:ea typeface="BIZ UDGothic" panose="020B0400000000000000" pitchFamily="49" charset="-128"/>
              </a:rPr>
              <a:t>図</a:t>
            </a:r>
            <a:r>
              <a:rPr lang="en-US" altLang="ja-JP" u="sng" dirty="0">
                <a:latin typeface="Helvetica" pitchFamily="2" charset="0"/>
                <a:ea typeface="BIZ UDGothic" panose="020B0400000000000000" pitchFamily="49" charset="-128"/>
              </a:rPr>
              <a:t>2</a:t>
            </a:r>
            <a:r>
              <a:rPr kumimoji="1" lang="en-US" altLang="ja-JP" u="sng" dirty="0">
                <a:latin typeface="Helvetica" pitchFamily="2" charset="0"/>
                <a:ea typeface="BIZ UDGothic" panose="020B0400000000000000" pitchFamily="49" charset="-128"/>
              </a:rPr>
              <a:t>. </a:t>
            </a:r>
            <a:r>
              <a:rPr lang="ja-JP" altLang="en-US" u="sng">
                <a:latin typeface="Helvetica" pitchFamily="2" charset="0"/>
                <a:ea typeface="BIZ UDGothic" panose="020B0400000000000000" pitchFamily="49" charset="-128"/>
              </a:rPr>
              <a:t>入力データの構成</a:t>
            </a:r>
            <a:endParaRPr kumimoji="1" lang="ja-JP" altLang="en-US" u="sng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A97C989-5A19-AC7A-D18E-E1E7D202B337}"/>
              </a:ext>
            </a:extLst>
          </p:cNvPr>
          <p:cNvSpPr txBox="1"/>
          <p:nvPr/>
        </p:nvSpPr>
        <p:spPr>
          <a:xfrm>
            <a:off x="2309267" y="1969481"/>
            <a:ext cx="10626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latin typeface="Helvetica" pitchFamily="2" charset="0"/>
                <a:ea typeface="BIZ UDGothic" panose="020B0400000000000000" pitchFamily="49" charset="-128"/>
              </a:rPr>
              <a:t>Subject ID→</a:t>
            </a:r>
            <a:endParaRPr kumimoji="1" lang="ja-JP" altLang="en-US" sz="1200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210953D-9CC9-619B-6EF9-236F7236C4A4}"/>
              </a:ext>
            </a:extLst>
          </p:cNvPr>
          <p:cNvSpPr txBox="1"/>
          <p:nvPr/>
        </p:nvSpPr>
        <p:spPr>
          <a:xfrm rot="16200000">
            <a:off x="394896" y="3781326"/>
            <a:ext cx="8082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>
                <a:latin typeface="Helvetica" pitchFamily="2" charset="0"/>
                <a:ea typeface="BIZ UDGothic" panose="020B0400000000000000" pitchFamily="49" charset="-128"/>
              </a:rPr>
              <a:t>←SNP</a:t>
            </a:r>
            <a:r>
              <a:rPr lang="ja-JP" altLang="en-US" sz="1200">
                <a:latin typeface="Helvetica" pitchFamily="2" charset="0"/>
                <a:ea typeface="BIZ UDGothic" panose="020B0400000000000000" pitchFamily="49" charset="-128"/>
              </a:rPr>
              <a:t>名</a:t>
            </a:r>
            <a:endParaRPr kumimoji="1" lang="ja-JP" altLang="en-US" sz="1200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AA6445F-D622-2B3F-4E37-AFC163DCB17E}"/>
              </a:ext>
            </a:extLst>
          </p:cNvPr>
          <p:cNvSpPr txBox="1"/>
          <p:nvPr/>
        </p:nvSpPr>
        <p:spPr>
          <a:xfrm>
            <a:off x="472825" y="952678"/>
            <a:ext cx="518091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Helvetica" pitchFamily="2" charset="0"/>
                <a:ea typeface="BIZ UDGothic" panose="020B0400000000000000" pitchFamily="49" charset="-128"/>
              </a:rPr>
              <a:t>2-1</a:t>
            </a:r>
            <a:endParaRPr kumimoji="1" lang="ja-JP" altLang="en-US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B1C0E71-C4DD-628F-B071-16129C036CFE}"/>
              </a:ext>
            </a:extLst>
          </p:cNvPr>
          <p:cNvSpPr txBox="1"/>
          <p:nvPr/>
        </p:nvSpPr>
        <p:spPr>
          <a:xfrm>
            <a:off x="1046350" y="952678"/>
            <a:ext cx="337143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個人毎</a:t>
            </a:r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genotype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マトリクス</a:t>
            </a:r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(FPKM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等</a:t>
            </a:r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)</a:t>
            </a:r>
            <a:endParaRPr lang="ja-JP" altLang="en-US" sz="1500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574C87B-9788-2511-DADB-976D244F13C4}"/>
              </a:ext>
            </a:extLst>
          </p:cNvPr>
          <p:cNvSpPr txBox="1"/>
          <p:nvPr/>
        </p:nvSpPr>
        <p:spPr>
          <a:xfrm>
            <a:off x="6816603" y="1858121"/>
            <a:ext cx="785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latin typeface="Helvetica" pitchFamily="2" charset="0"/>
                <a:ea typeface="BIZ UDGothic" panose="020B0400000000000000" pitchFamily="49" charset="-128"/>
              </a:rPr>
              <a:t>Beta</a:t>
            </a:r>
            <a:r>
              <a:rPr kumimoji="1" lang="ja-JP" altLang="en-US" sz="1200">
                <a:latin typeface="Helvetica" pitchFamily="2" charset="0"/>
                <a:ea typeface="BIZ UDGothic" panose="020B0400000000000000" pitchFamily="49" charset="-128"/>
              </a:rPr>
              <a:t>値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ECBE5D2-7B56-7539-7050-233C115D73B0}"/>
              </a:ext>
            </a:extLst>
          </p:cNvPr>
          <p:cNvSpPr txBox="1"/>
          <p:nvPr/>
        </p:nvSpPr>
        <p:spPr>
          <a:xfrm rot="16200000">
            <a:off x="5573270" y="3827493"/>
            <a:ext cx="8082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>
                <a:latin typeface="Helvetica" pitchFamily="2" charset="0"/>
                <a:ea typeface="BIZ UDGothic" panose="020B0400000000000000" pitchFamily="49" charset="-128"/>
              </a:rPr>
              <a:t>←SNP</a:t>
            </a:r>
            <a:r>
              <a:rPr lang="ja-JP" altLang="en-US" sz="1200">
                <a:latin typeface="Helvetica" pitchFamily="2" charset="0"/>
                <a:ea typeface="BIZ UDGothic" panose="020B0400000000000000" pitchFamily="49" charset="-128"/>
              </a:rPr>
              <a:t>名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A87D923-EDEF-8318-3379-C5408357C136}"/>
              </a:ext>
            </a:extLst>
          </p:cNvPr>
          <p:cNvSpPr txBox="1"/>
          <p:nvPr/>
        </p:nvSpPr>
        <p:spPr>
          <a:xfrm>
            <a:off x="5595711" y="952678"/>
            <a:ext cx="518091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Helvetica" pitchFamily="2" charset="0"/>
                <a:ea typeface="BIZ UDGothic" panose="020B0400000000000000" pitchFamily="49" charset="-128"/>
              </a:rPr>
              <a:t>2-2</a:t>
            </a:r>
            <a:endParaRPr kumimoji="1" lang="ja-JP" altLang="en-US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0629003-916E-6245-BADB-067AA5088F58}"/>
              </a:ext>
            </a:extLst>
          </p:cNvPr>
          <p:cNvSpPr txBox="1"/>
          <p:nvPr/>
        </p:nvSpPr>
        <p:spPr>
          <a:xfrm>
            <a:off x="9101831" y="952678"/>
            <a:ext cx="518091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Helvetica" pitchFamily="2" charset="0"/>
                <a:ea typeface="BIZ UDGothic" panose="020B0400000000000000" pitchFamily="49" charset="-128"/>
              </a:rPr>
              <a:t>2-3</a:t>
            </a:r>
            <a:endParaRPr kumimoji="1" lang="ja-JP" altLang="en-US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0467BB7-EE2A-39D6-9D33-B148B7F94E62}"/>
              </a:ext>
            </a:extLst>
          </p:cNvPr>
          <p:cNvSpPr txBox="1"/>
          <p:nvPr/>
        </p:nvSpPr>
        <p:spPr>
          <a:xfrm>
            <a:off x="6168388" y="952678"/>
            <a:ext cx="152157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参照</a:t>
            </a:r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beta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リスト</a:t>
            </a:r>
            <a:endParaRPr lang="en-US" altLang="ja-JP" sz="1500" dirty="0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9C473CFC-6DA2-8897-0AF2-44B02354B8B2}"/>
              </a:ext>
            </a:extLst>
          </p:cNvPr>
          <p:cNvSpPr txBox="1"/>
          <p:nvPr/>
        </p:nvSpPr>
        <p:spPr>
          <a:xfrm>
            <a:off x="9679114" y="952678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メタデータ</a:t>
            </a:r>
            <a:endParaRPr lang="en-US" altLang="ja-JP" sz="1500" dirty="0">
              <a:latin typeface="Helvetica" pitchFamily="2" charset="0"/>
              <a:ea typeface="BIZ UDGothic" panose="020B0400000000000000" pitchFamily="49" charset="-128"/>
            </a:endParaRPr>
          </a:p>
          <a:p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(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あれば</a:t>
            </a:r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)</a:t>
            </a:r>
            <a:endParaRPr lang="ja-JP" altLang="en-US" sz="1500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8C438EA-085F-650E-90D8-85B902F4996D}"/>
              </a:ext>
            </a:extLst>
          </p:cNvPr>
          <p:cNvSpPr txBox="1"/>
          <p:nvPr/>
        </p:nvSpPr>
        <p:spPr>
          <a:xfrm rot="16200000">
            <a:off x="8368595" y="3881756"/>
            <a:ext cx="10626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latin typeface="Helvetica" pitchFamily="2" charset="0"/>
                <a:ea typeface="BIZ UDGothic" panose="020B0400000000000000" pitchFamily="49" charset="-128"/>
              </a:rPr>
              <a:t>←Subject ID</a:t>
            </a:r>
            <a:endParaRPr kumimoji="1" lang="ja-JP" altLang="en-US" sz="1200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4B5C4DA1-B712-686D-62F4-1271C94994BF}"/>
              </a:ext>
            </a:extLst>
          </p:cNvPr>
          <p:cNvSpPr txBox="1"/>
          <p:nvPr/>
        </p:nvSpPr>
        <p:spPr>
          <a:xfrm>
            <a:off x="9882733" y="1896252"/>
            <a:ext cx="13708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>
                <a:latin typeface="Helvetica" pitchFamily="2" charset="0"/>
                <a:ea typeface="BIZ UDGothic" panose="020B0400000000000000" pitchFamily="49" charset="-128"/>
              </a:rPr>
              <a:t>年齢、性別など</a:t>
            </a:r>
            <a:endParaRPr kumimoji="1" lang="ja-JP" altLang="en-US" sz="1200">
              <a:latin typeface="Helvetica" pitchFamily="2" charset="0"/>
              <a:ea typeface="BIZ UDGothic" panose="020B0400000000000000" pitchFamily="49" charset="-128"/>
            </a:endParaRPr>
          </a:p>
        </p:txBody>
      </p:sp>
      <p:pic>
        <p:nvPicPr>
          <p:cNvPr id="4" name="図 3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39B79658-0744-D77A-2B9C-2A5590AF84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0035"/>
          <a:stretch>
            <a:fillRect/>
          </a:stretch>
        </p:blipFill>
        <p:spPr>
          <a:xfrm>
            <a:off x="969048" y="2293712"/>
            <a:ext cx="684053" cy="3483325"/>
          </a:xfrm>
          <a:prstGeom prst="rect">
            <a:avLst/>
          </a:prstGeom>
        </p:spPr>
      </p:pic>
      <p:pic>
        <p:nvPicPr>
          <p:cNvPr id="10" name="図 9" descr="クロスワードパズル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A31497D4-156F-F2E3-4280-401215AF9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931" y="2229484"/>
            <a:ext cx="1372099" cy="4281249"/>
          </a:xfrm>
          <a:prstGeom prst="rect">
            <a:avLst/>
          </a:prstGeom>
        </p:spPr>
      </p:pic>
      <p:pic>
        <p:nvPicPr>
          <p:cNvPr id="15" name="図 14" descr="テーブル, Excel&#10;&#10;AI 生成コンテンツは誤りを含む可能性があります。">
            <a:extLst>
              <a:ext uri="{FF2B5EF4-FFF2-40B4-BE49-F238E27FC236}">
                <a16:creationId xmlns:a16="http://schemas.microsoft.com/office/drawing/2014/main" id="{DB21A6C9-9388-137A-76C5-9F52A4A6EC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1831" y="2293711"/>
            <a:ext cx="2266537" cy="4383884"/>
          </a:xfrm>
          <a:prstGeom prst="rect">
            <a:avLst/>
          </a:prstGeom>
        </p:spPr>
      </p:pic>
      <p:pic>
        <p:nvPicPr>
          <p:cNvPr id="2" name="図 1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A3DA6836-51E6-57C8-CDA1-AD88D0E625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071" r="18080"/>
          <a:stretch>
            <a:fillRect/>
          </a:stretch>
        </p:blipFill>
        <p:spPr>
          <a:xfrm>
            <a:off x="1641813" y="2293711"/>
            <a:ext cx="3009921" cy="3483325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7403101-21F8-EEDD-B1CA-8F8AD3410EBA}"/>
              </a:ext>
            </a:extLst>
          </p:cNvPr>
          <p:cNvSpPr txBox="1"/>
          <p:nvPr/>
        </p:nvSpPr>
        <p:spPr>
          <a:xfrm>
            <a:off x="6816603" y="6539095"/>
            <a:ext cx="15215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latin typeface="Helvetica" pitchFamily="2" charset="0"/>
                <a:ea typeface="BIZ UDGothic" panose="020B0400000000000000" pitchFamily="49" charset="-128"/>
              </a:rPr>
              <a:t>+</a:t>
            </a:r>
            <a:r>
              <a:rPr kumimoji="1" lang="en-US" altLang="ja-JP" sz="1200" dirty="0" err="1">
                <a:latin typeface="Helvetica" pitchFamily="2" charset="0"/>
                <a:ea typeface="BIZ UDGothic" panose="020B0400000000000000" pitchFamily="49" charset="-128"/>
              </a:rPr>
              <a:t>Pvalue</a:t>
            </a:r>
            <a:r>
              <a:rPr kumimoji="1" lang="en-US" altLang="ja-JP" sz="1200" dirty="0">
                <a:latin typeface="Helvetica" pitchFamily="2" charset="0"/>
                <a:ea typeface="BIZ UDGothic" panose="020B0400000000000000" pitchFamily="49" charset="-128"/>
              </a:rPr>
              <a:t> (</a:t>
            </a:r>
            <a:r>
              <a:rPr kumimoji="1" lang="ja-JP" altLang="en-US" sz="1200">
                <a:latin typeface="Helvetica" pitchFamily="2" charset="0"/>
                <a:ea typeface="BIZ UDGothic" panose="020B0400000000000000" pitchFamily="49" charset="-128"/>
              </a:rPr>
              <a:t>足切り用</a:t>
            </a:r>
            <a:r>
              <a:rPr kumimoji="1" lang="en-US" altLang="ja-JP" sz="1200" dirty="0">
                <a:latin typeface="Helvetica" pitchFamily="2" charset="0"/>
                <a:ea typeface="BIZ UDGothic" panose="020B0400000000000000" pitchFamily="49" charset="-128"/>
              </a:rPr>
              <a:t>)</a:t>
            </a:r>
            <a:endParaRPr kumimoji="1" lang="ja-JP" altLang="en-US" sz="1200">
              <a:latin typeface="Helvetica" pitchFamily="2" charset="0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28152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CCACF-DFD9-A7BB-ECE9-73C4C8D85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D4EAA1BC-7CF6-BBA1-293B-EC2D968350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9194686"/>
              </p:ext>
            </p:extLst>
          </p:nvPr>
        </p:nvGraphicFramePr>
        <p:xfrm>
          <a:off x="829704" y="1223267"/>
          <a:ext cx="3531438" cy="263810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49168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3831523211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1726811639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3414967065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1277688133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3669988584"/>
                    </a:ext>
                  </a:extLst>
                </a:gridCol>
              </a:tblGrid>
              <a:tr h="33722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Control_0001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Control_0002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Control_0003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Control_0004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Control_0005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86091349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NA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50455537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17950858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08610093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70161156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52199730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NA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20139096"/>
                  </a:ext>
                </a:extLst>
              </a:tr>
            </a:tbl>
          </a:graphicData>
        </a:graphic>
      </p:graphicFrame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70219895-F3E0-CBD6-A8FF-5635D0CEA5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501353"/>
              </p:ext>
            </p:extLst>
          </p:nvPr>
        </p:nvGraphicFramePr>
        <p:xfrm>
          <a:off x="8523182" y="1229272"/>
          <a:ext cx="1828202" cy="263209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38054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690148">
                  <a:extLst>
                    <a:ext uri="{9D8B030D-6E8A-4147-A177-3AD203B41FA5}">
                      <a16:colId xmlns:a16="http://schemas.microsoft.com/office/drawing/2014/main" val="979457837"/>
                    </a:ext>
                  </a:extLst>
                </a:gridCol>
              </a:tblGrid>
              <a:tr h="33645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Control_</a:t>
                      </a:r>
                    </a:p>
                    <a:p>
                      <a:pPr algn="l" fontAlgn="b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average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0.04582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1.02268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0.26682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86091349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0.69286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50455537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0.59562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17950858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0.62730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08610093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0.47889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70161156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0.25895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52199730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0.25608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20139096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88C9ED2-0FDB-B25B-8637-4D86DA20666E}"/>
              </a:ext>
            </a:extLst>
          </p:cNvPr>
          <p:cNvSpPr txBox="1"/>
          <p:nvPr/>
        </p:nvSpPr>
        <p:spPr>
          <a:xfrm>
            <a:off x="0" y="23969"/>
            <a:ext cx="3365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u="sng">
                <a:latin typeface="Helvetica" pitchFamily="2" charset="0"/>
                <a:ea typeface="BIZ UDGothic" panose="020B0400000000000000" pitchFamily="49" charset="-128"/>
              </a:rPr>
              <a:t>図</a:t>
            </a:r>
            <a:r>
              <a:rPr lang="en-US" altLang="ja-JP" u="sng" dirty="0">
                <a:latin typeface="Helvetica" pitchFamily="2" charset="0"/>
                <a:ea typeface="BIZ UDGothic" panose="020B0400000000000000" pitchFamily="49" charset="-128"/>
              </a:rPr>
              <a:t>3</a:t>
            </a:r>
            <a:r>
              <a:rPr kumimoji="1" lang="en-US" altLang="ja-JP" u="sng" dirty="0">
                <a:latin typeface="Helvetica" pitchFamily="2" charset="0"/>
                <a:ea typeface="BIZ UDGothic" panose="020B0400000000000000" pitchFamily="49" charset="-128"/>
              </a:rPr>
              <a:t>. </a:t>
            </a:r>
            <a:r>
              <a:rPr kumimoji="1" lang="en-US" altLang="ja-JP" u="sng" dirty="0" err="1">
                <a:latin typeface="Helvetica" pitchFamily="2" charset="0"/>
                <a:ea typeface="BIZ UDGothic" panose="020B0400000000000000" pitchFamily="49" charset="-128"/>
              </a:rPr>
              <a:t>RFind</a:t>
            </a:r>
            <a:r>
              <a:rPr kumimoji="1" lang="ja-JP" altLang="en-US" u="sng">
                <a:latin typeface="Helvetica" pitchFamily="2" charset="0"/>
                <a:ea typeface="BIZ UDGothic" panose="020B0400000000000000" pitchFamily="49" charset="-128"/>
              </a:rPr>
              <a:t>アルゴリズムの適用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E31916F-A5DB-4B51-0F2E-08C76899C4D0}"/>
              </a:ext>
            </a:extLst>
          </p:cNvPr>
          <p:cNvSpPr txBox="1"/>
          <p:nvPr/>
        </p:nvSpPr>
        <p:spPr>
          <a:xfrm>
            <a:off x="6048571" y="2663016"/>
            <a:ext cx="518091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Helvetica" pitchFamily="2" charset="0"/>
                <a:ea typeface="BIZ UDGothic" panose="020B0400000000000000" pitchFamily="49" charset="-128"/>
              </a:rPr>
              <a:t>3-1</a:t>
            </a:r>
            <a:endParaRPr kumimoji="1" lang="ja-JP" altLang="en-US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EF2C6D3-508D-4A44-00E8-13920C920CCA}"/>
              </a:ext>
            </a:extLst>
          </p:cNvPr>
          <p:cNvSpPr txBox="1"/>
          <p:nvPr/>
        </p:nvSpPr>
        <p:spPr>
          <a:xfrm>
            <a:off x="5416347" y="3200257"/>
            <a:ext cx="230063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Control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のデータから</a:t>
            </a:r>
            <a:endParaRPr lang="en-US" altLang="ja-JP" sz="1500" dirty="0">
              <a:latin typeface="Helvetica" pitchFamily="2" charset="0"/>
              <a:ea typeface="BIZ UDGothic" panose="020B0400000000000000" pitchFamily="49" charset="-128"/>
            </a:endParaRPr>
          </a:p>
          <a:p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各遺伝子の平均値を算出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21FDF8C-4AD3-7C39-7538-0485CA7DC693}"/>
              </a:ext>
            </a:extLst>
          </p:cNvPr>
          <p:cNvSpPr txBox="1"/>
          <p:nvPr/>
        </p:nvSpPr>
        <p:spPr>
          <a:xfrm rot="16200000">
            <a:off x="-239854" y="2454379"/>
            <a:ext cx="15119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健常者</a:t>
            </a:r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(Control)</a:t>
            </a:r>
            <a:endParaRPr lang="ja-JP" altLang="en-US" sz="1500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8C7952B-FDE8-3EE2-38A4-D9F8A30FDD10}"/>
              </a:ext>
            </a:extLst>
          </p:cNvPr>
          <p:cNvSpPr txBox="1"/>
          <p:nvPr/>
        </p:nvSpPr>
        <p:spPr>
          <a:xfrm rot="16200000">
            <a:off x="-133255" y="5263027"/>
            <a:ext cx="129875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00">
                <a:solidFill>
                  <a:schemeClr val="bg1">
                    <a:lumMod val="75000"/>
                  </a:schemeClr>
                </a:solidFill>
                <a:latin typeface="Helvetica" pitchFamily="2" charset="0"/>
                <a:ea typeface="BIZ UDGothic" panose="020B0400000000000000" pitchFamily="49" charset="-128"/>
              </a:rPr>
              <a:t>患者</a:t>
            </a:r>
            <a:r>
              <a:rPr lang="en-US" altLang="ja-JP" sz="1500" dirty="0">
                <a:solidFill>
                  <a:schemeClr val="bg1">
                    <a:lumMod val="75000"/>
                  </a:schemeClr>
                </a:solidFill>
                <a:latin typeface="Helvetica" pitchFamily="2" charset="0"/>
                <a:ea typeface="BIZ UDGothic" panose="020B0400000000000000" pitchFamily="49" charset="-128"/>
              </a:rPr>
              <a:t>(Bipolar)</a:t>
            </a:r>
            <a:endParaRPr lang="ja-JP" altLang="en-US" sz="1500">
              <a:solidFill>
                <a:schemeClr val="bg1">
                  <a:lumMod val="75000"/>
                </a:schemeClr>
              </a:solidFill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10" name="右矢印 9">
            <a:extLst>
              <a:ext uri="{FF2B5EF4-FFF2-40B4-BE49-F238E27FC236}">
                <a16:creationId xmlns:a16="http://schemas.microsoft.com/office/drawing/2014/main" id="{C534F399-3C11-7D13-911B-AD27118EC506}"/>
              </a:ext>
            </a:extLst>
          </p:cNvPr>
          <p:cNvSpPr/>
          <p:nvPr/>
        </p:nvSpPr>
        <p:spPr>
          <a:xfrm>
            <a:off x="5608370" y="2094953"/>
            <a:ext cx="1512711" cy="513289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F935DCF-8B41-4871-5EA8-595BBA206237}"/>
              </a:ext>
            </a:extLst>
          </p:cNvPr>
          <p:cNvSpPr txBox="1"/>
          <p:nvPr/>
        </p:nvSpPr>
        <p:spPr>
          <a:xfrm>
            <a:off x="7973647" y="693047"/>
            <a:ext cx="287931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2. 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健常者</a:t>
            </a:r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(Control)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の平均リスト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48219DF-3F07-6818-F347-162019F074B7}"/>
              </a:ext>
            </a:extLst>
          </p:cNvPr>
          <p:cNvSpPr txBox="1"/>
          <p:nvPr/>
        </p:nvSpPr>
        <p:spPr>
          <a:xfrm>
            <a:off x="480354" y="693047"/>
            <a:ext cx="279435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1. 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個人毎</a:t>
            </a:r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genotype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マトリクス</a:t>
            </a:r>
          </a:p>
        </p:txBody>
      </p:sp>
      <p:graphicFrame>
        <p:nvGraphicFramePr>
          <p:cNvPr id="11" name="表 10">
            <a:extLst>
              <a:ext uri="{FF2B5EF4-FFF2-40B4-BE49-F238E27FC236}">
                <a16:creationId xmlns:a16="http://schemas.microsoft.com/office/drawing/2014/main" id="{08E82327-78FD-550A-4300-189958A1DD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894622"/>
              </p:ext>
            </p:extLst>
          </p:nvPr>
        </p:nvGraphicFramePr>
        <p:xfrm>
          <a:off x="829704" y="4000440"/>
          <a:ext cx="3531438" cy="263810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49168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3831523211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1726811639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3414967065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1277688133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3669988584"/>
                    </a:ext>
                  </a:extLst>
                </a:gridCol>
              </a:tblGrid>
              <a:tr h="33722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SNP_ID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</a:t>
                      </a:r>
                    </a:p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0001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</a:t>
                      </a:r>
                    </a:p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0002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</a:t>
                      </a:r>
                    </a:p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0003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</a:t>
                      </a:r>
                    </a:p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0004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</a:t>
                      </a:r>
                    </a:p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0005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SNP_A-1507322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NA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NA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SNP_A-1507323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SNP_A-1507325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NA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NA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SNP_A-1507326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091349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SNP_A-1507327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455537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SNP_A-1507329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950858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610093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161156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SNP_A-1507332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199730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SNP_A-1507333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NA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NA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139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4680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03660-5DEA-682C-BC2C-993471EEC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A0B2E41D-AADE-BA1F-5CB6-565BC16758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89722"/>
              </p:ext>
            </p:extLst>
          </p:nvPr>
        </p:nvGraphicFramePr>
        <p:xfrm>
          <a:off x="603629" y="1058587"/>
          <a:ext cx="3531438" cy="263810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49168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3831523211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1726811639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3414967065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1277688133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3669988584"/>
                    </a:ext>
                  </a:extLst>
                </a:gridCol>
              </a:tblGrid>
              <a:tr h="33722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Control_0001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Control_0002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Control_0003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Control_0004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Control_0005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86091349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NA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50455537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17950858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08610093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70161156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52199730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NA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20139096"/>
                  </a:ext>
                </a:extLst>
              </a:tr>
            </a:tbl>
          </a:graphicData>
        </a:graphic>
      </p:graphicFrame>
      <p:graphicFrame>
        <p:nvGraphicFramePr>
          <p:cNvPr id="11" name="表 10">
            <a:extLst>
              <a:ext uri="{FF2B5EF4-FFF2-40B4-BE49-F238E27FC236}">
                <a16:creationId xmlns:a16="http://schemas.microsoft.com/office/drawing/2014/main" id="{364514ED-FAFF-1467-143D-2C6CCE966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0773973"/>
              </p:ext>
            </p:extLst>
          </p:nvPr>
        </p:nvGraphicFramePr>
        <p:xfrm>
          <a:off x="603629" y="3835760"/>
          <a:ext cx="3531438" cy="263810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49168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3831523211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1726811639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3414967065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1277688133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3669988584"/>
                    </a:ext>
                  </a:extLst>
                </a:gridCol>
              </a:tblGrid>
              <a:tr h="33722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</a:t>
                      </a:r>
                    </a:p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</a:t>
                      </a:r>
                    </a:p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0002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</a:t>
                      </a:r>
                    </a:p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0003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</a:t>
                      </a:r>
                    </a:p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0004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</a:t>
                      </a:r>
                    </a:p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0005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NA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NA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NA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NA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86091349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50455537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17950858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08610093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70161156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52199730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NA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NA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20139096"/>
                  </a:ext>
                </a:extLst>
              </a:tr>
            </a:tbl>
          </a:graphicData>
        </a:graphic>
      </p:graphicFrame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9FBAD45-4786-B4BE-CBD6-8228D6DEBCBA}"/>
              </a:ext>
            </a:extLst>
          </p:cNvPr>
          <p:cNvSpPr txBox="1"/>
          <p:nvPr/>
        </p:nvSpPr>
        <p:spPr>
          <a:xfrm>
            <a:off x="9044521" y="4851668"/>
            <a:ext cx="1561646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Deviation=1.2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で</a:t>
            </a:r>
            <a:endParaRPr lang="en-US" altLang="ja-JP" sz="1500" dirty="0">
              <a:latin typeface="Helvetica" pitchFamily="2" charset="0"/>
              <a:ea typeface="BIZ UDGothic" panose="020B0400000000000000" pitchFamily="49" charset="-128"/>
            </a:endParaRPr>
          </a:p>
          <a:p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Thresholding</a:t>
            </a:r>
          </a:p>
          <a:p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(0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は</a:t>
            </a:r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NA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に変換</a:t>
            </a:r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)</a:t>
            </a:r>
            <a:endParaRPr lang="ja-JP" altLang="en-US" sz="1500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38A9B6A-8186-29E2-7E1A-8A93BF01E993}"/>
              </a:ext>
            </a:extLst>
          </p:cNvPr>
          <p:cNvSpPr txBox="1"/>
          <p:nvPr/>
        </p:nvSpPr>
        <p:spPr>
          <a:xfrm>
            <a:off x="0" y="23969"/>
            <a:ext cx="3365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u="sng">
                <a:latin typeface="Helvetica" pitchFamily="2" charset="0"/>
                <a:ea typeface="BIZ UDGothic" panose="020B0400000000000000" pitchFamily="49" charset="-128"/>
              </a:rPr>
              <a:t>図</a:t>
            </a:r>
            <a:r>
              <a:rPr lang="en-US" altLang="ja-JP" u="sng" dirty="0">
                <a:latin typeface="Helvetica" pitchFamily="2" charset="0"/>
                <a:ea typeface="BIZ UDGothic" panose="020B0400000000000000" pitchFamily="49" charset="-128"/>
              </a:rPr>
              <a:t>3. </a:t>
            </a:r>
            <a:r>
              <a:rPr lang="en-US" altLang="ja-JP" u="sng" dirty="0" err="1">
                <a:latin typeface="Helvetica" pitchFamily="2" charset="0"/>
                <a:ea typeface="BIZ UDGothic" panose="020B0400000000000000" pitchFamily="49" charset="-128"/>
              </a:rPr>
              <a:t>RFind</a:t>
            </a:r>
            <a:r>
              <a:rPr lang="ja-JP" altLang="en-US" u="sng">
                <a:latin typeface="Helvetica" pitchFamily="2" charset="0"/>
                <a:ea typeface="BIZ UDGothic" panose="020B0400000000000000" pitchFamily="49" charset="-128"/>
              </a:rPr>
              <a:t>アルゴリズムの適用</a:t>
            </a:r>
          </a:p>
        </p:txBody>
      </p:sp>
      <p:graphicFrame>
        <p:nvGraphicFramePr>
          <p:cNvPr id="20" name="表 19">
            <a:extLst>
              <a:ext uri="{FF2B5EF4-FFF2-40B4-BE49-F238E27FC236}">
                <a16:creationId xmlns:a16="http://schemas.microsoft.com/office/drawing/2014/main" id="{02E07BF8-DB79-1144-B40F-EBA0031AF80A}"/>
              </a:ext>
            </a:extLst>
          </p:cNvPr>
          <p:cNvGraphicFramePr>
            <a:graphicFrameLocks noGrp="1"/>
          </p:cNvGraphicFramePr>
          <p:nvPr/>
        </p:nvGraphicFramePr>
        <p:xfrm>
          <a:off x="14723696" y="-1267884"/>
          <a:ext cx="1706617" cy="299243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0843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835774">
                  <a:extLst>
                    <a:ext uri="{9D8B030D-6E8A-4147-A177-3AD203B41FA5}">
                      <a16:colId xmlns:a16="http://schemas.microsoft.com/office/drawing/2014/main" val="979457837"/>
                    </a:ext>
                  </a:extLst>
                </a:gridCol>
              </a:tblGrid>
              <a:tr h="38251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gene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0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Control_average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WASH7P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1.92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MIR6859-1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4.21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RPL23AP24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3.42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MTCO1P12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116.01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86091349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LINC01128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5.81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50455537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LINC00115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1.82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17950858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NOC2L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7.37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08610093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KLHL17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1.02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70161156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AGRN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0.60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52199730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C1orf159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1.92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20139096"/>
                  </a:ext>
                </a:extLst>
              </a:tr>
            </a:tbl>
          </a:graphicData>
        </a:graphic>
      </p:graphicFrame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A99FE79E-6182-CE0D-1EFE-73D532045E67}"/>
              </a:ext>
            </a:extLst>
          </p:cNvPr>
          <p:cNvSpPr txBox="1"/>
          <p:nvPr/>
        </p:nvSpPr>
        <p:spPr>
          <a:xfrm>
            <a:off x="10070958" y="2326499"/>
            <a:ext cx="216437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3. 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個人</a:t>
            </a:r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Deviation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リスト</a:t>
            </a:r>
          </a:p>
        </p:txBody>
      </p:sp>
      <p:graphicFrame>
        <p:nvGraphicFramePr>
          <p:cNvPr id="22" name="表 21">
            <a:extLst>
              <a:ext uri="{FF2B5EF4-FFF2-40B4-BE49-F238E27FC236}">
                <a16:creationId xmlns:a16="http://schemas.microsoft.com/office/drawing/2014/main" id="{DE88C1E2-8309-39C8-8C52-288ECD142636}"/>
              </a:ext>
            </a:extLst>
          </p:cNvPr>
          <p:cNvGraphicFramePr>
            <a:graphicFrameLocks noGrp="1"/>
          </p:cNvGraphicFramePr>
          <p:nvPr/>
        </p:nvGraphicFramePr>
        <p:xfrm>
          <a:off x="14876096" y="-1115484"/>
          <a:ext cx="1706617" cy="299243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0843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835774">
                  <a:extLst>
                    <a:ext uri="{9D8B030D-6E8A-4147-A177-3AD203B41FA5}">
                      <a16:colId xmlns:a16="http://schemas.microsoft.com/office/drawing/2014/main" val="979457837"/>
                    </a:ext>
                  </a:extLst>
                </a:gridCol>
              </a:tblGrid>
              <a:tr h="38251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gene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0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Control_average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WASH7P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1.92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MIR6859-1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4.21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RPL23AP24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3.42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MTCO1P12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116.01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86091349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LINC01128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5.81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50455537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LINC00115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1.82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17950858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NOC2L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7.37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08610093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KLHL17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1.02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70161156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AGRN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0.60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52199730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C1orf159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1.92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20139096"/>
                  </a:ext>
                </a:extLst>
              </a:tr>
            </a:tbl>
          </a:graphicData>
        </a:graphic>
      </p:graphicFrame>
      <p:graphicFrame>
        <p:nvGraphicFramePr>
          <p:cNvPr id="23" name="表 22">
            <a:extLst>
              <a:ext uri="{FF2B5EF4-FFF2-40B4-BE49-F238E27FC236}">
                <a16:creationId xmlns:a16="http://schemas.microsoft.com/office/drawing/2014/main" id="{34D60D2F-6D9D-54E9-0E36-697388A566D1}"/>
              </a:ext>
            </a:extLst>
          </p:cNvPr>
          <p:cNvGraphicFramePr>
            <a:graphicFrameLocks noGrp="1"/>
          </p:cNvGraphicFramePr>
          <p:nvPr/>
        </p:nvGraphicFramePr>
        <p:xfrm>
          <a:off x="15028496" y="-963084"/>
          <a:ext cx="1706617" cy="299243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0843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835774">
                  <a:extLst>
                    <a:ext uri="{9D8B030D-6E8A-4147-A177-3AD203B41FA5}">
                      <a16:colId xmlns:a16="http://schemas.microsoft.com/office/drawing/2014/main" val="979457837"/>
                    </a:ext>
                  </a:extLst>
                </a:gridCol>
              </a:tblGrid>
              <a:tr h="38251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gene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0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Control_average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WASH7P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1.92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MIR6859-1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4.21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RPL23AP24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3.42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MTCO1P12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116.01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86091349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LINC01128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5.81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50455537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LINC00115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1.82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17950858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NOC2L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7.37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08610093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KLHL17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1.02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70161156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AGRN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0.60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52199730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C1orf159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1.92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20139096"/>
                  </a:ext>
                </a:extLst>
              </a:tr>
            </a:tbl>
          </a:graphicData>
        </a:graphic>
      </p:graphicFrame>
      <p:graphicFrame>
        <p:nvGraphicFramePr>
          <p:cNvPr id="24" name="表 23">
            <a:extLst>
              <a:ext uri="{FF2B5EF4-FFF2-40B4-BE49-F238E27FC236}">
                <a16:creationId xmlns:a16="http://schemas.microsoft.com/office/drawing/2014/main" id="{C5E7F46A-9852-495F-88A7-B98EA9EFED64}"/>
              </a:ext>
            </a:extLst>
          </p:cNvPr>
          <p:cNvGraphicFramePr>
            <a:graphicFrameLocks noGrp="1"/>
          </p:cNvGraphicFramePr>
          <p:nvPr/>
        </p:nvGraphicFramePr>
        <p:xfrm>
          <a:off x="15180896" y="-810684"/>
          <a:ext cx="1706617" cy="299243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0843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835774">
                  <a:extLst>
                    <a:ext uri="{9D8B030D-6E8A-4147-A177-3AD203B41FA5}">
                      <a16:colId xmlns:a16="http://schemas.microsoft.com/office/drawing/2014/main" val="979457837"/>
                    </a:ext>
                  </a:extLst>
                </a:gridCol>
              </a:tblGrid>
              <a:tr h="38251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gene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0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Control_average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WASH7P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1.92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MIR6859-1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4.21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RPL23AP24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3.42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MTCO1P12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116.01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86091349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LINC01128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5.81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50455537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LINC00115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1.82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17950858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NOC2L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7.37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08610093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KLHL17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1.02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70161156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AGRN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0.60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52199730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C1orf159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1.92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20139096"/>
                  </a:ext>
                </a:extLst>
              </a:tr>
            </a:tbl>
          </a:graphicData>
        </a:graphic>
      </p:graphicFrame>
      <p:graphicFrame>
        <p:nvGraphicFramePr>
          <p:cNvPr id="25" name="表 24">
            <a:extLst>
              <a:ext uri="{FF2B5EF4-FFF2-40B4-BE49-F238E27FC236}">
                <a16:creationId xmlns:a16="http://schemas.microsoft.com/office/drawing/2014/main" id="{00324BFA-D069-F863-3F5B-B977E18E66A1}"/>
              </a:ext>
            </a:extLst>
          </p:cNvPr>
          <p:cNvGraphicFramePr>
            <a:graphicFrameLocks noGrp="1"/>
          </p:cNvGraphicFramePr>
          <p:nvPr/>
        </p:nvGraphicFramePr>
        <p:xfrm>
          <a:off x="15333296" y="-658284"/>
          <a:ext cx="1706617" cy="299243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0843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835774">
                  <a:extLst>
                    <a:ext uri="{9D8B030D-6E8A-4147-A177-3AD203B41FA5}">
                      <a16:colId xmlns:a16="http://schemas.microsoft.com/office/drawing/2014/main" val="979457837"/>
                    </a:ext>
                  </a:extLst>
                </a:gridCol>
              </a:tblGrid>
              <a:tr h="38251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gene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0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Control_average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WASH7P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1.92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MIR6859-1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4.21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RPL23AP24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3.42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MTCO1P12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116.01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86091349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LINC01128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5.81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50455537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LINC00115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1.82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17950858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NOC2L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7.37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08610093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KLHL17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1.02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70161156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AGRN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0.60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52199730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C1orf159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1.92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20139096"/>
                  </a:ext>
                </a:extLst>
              </a:tr>
            </a:tbl>
          </a:graphicData>
        </a:graphic>
      </p:graphicFrame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60F6E4DA-59D2-1845-3553-323F97617A22}"/>
              </a:ext>
            </a:extLst>
          </p:cNvPr>
          <p:cNvSpPr txBox="1"/>
          <p:nvPr/>
        </p:nvSpPr>
        <p:spPr>
          <a:xfrm>
            <a:off x="554416" y="640005"/>
            <a:ext cx="273023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1. 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個人毎</a:t>
            </a:r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genotype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マトリクス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8D3D2488-BE31-2656-1A31-8F73823AAEFD}"/>
              </a:ext>
            </a:extLst>
          </p:cNvPr>
          <p:cNvSpPr txBox="1"/>
          <p:nvPr/>
        </p:nvSpPr>
        <p:spPr>
          <a:xfrm rot="16200000">
            <a:off x="-363142" y="2330159"/>
            <a:ext cx="15119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健常者</a:t>
            </a:r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(Control)</a:t>
            </a:r>
            <a:endParaRPr lang="ja-JP" altLang="en-US" sz="1500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26C12A64-F597-1700-23B8-620A4E39CDC2}"/>
              </a:ext>
            </a:extLst>
          </p:cNvPr>
          <p:cNvSpPr txBox="1"/>
          <p:nvPr/>
        </p:nvSpPr>
        <p:spPr>
          <a:xfrm rot="16200000">
            <a:off x="-256543" y="5280701"/>
            <a:ext cx="129875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患者</a:t>
            </a:r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(Bipolar)</a:t>
            </a:r>
            <a:endParaRPr lang="ja-JP" altLang="en-US" sz="1500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B282DCFA-965B-FB65-926C-E152201CEEC6}"/>
              </a:ext>
            </a:extLst>
          </p:cNvPr>
          <p:cNvSpPr/>
          <p:nvPr/>
        </p:nvSpPr>
        <p:spPr>
          <a:xfrm flipH="1">
            <a:off x="1643256" y="1058679"/>
            <a:ext cx="518091" cy="263257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33" name="表 32">
            <a:extLst>
              <a:ext uri="{FF2B5EF4-FFF2-40B4-BE49-F238E27FC236}">
                <a16:creationId xmlns:a16="http://schemas.microsoft.com/office/drawing/2014/main" id="{C896FB65-2DC3-1FC8-4BE7-94619F56B1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682893"/>
              </p:ext>
            </p:extLst>
          </p:nvPr>
        </p:nvGraphicFramePr>
        <p:xfrm>
          <a:off x="10289656" y="2689356"/>
          <a:ext cx="1828202" cy="12573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30425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697777">
                  <a:extLst>
                    <a:ext uri="{9D8B030D-6E8A-4147-A177-3AD203B41FA5}">
                      <a16:colId xmlns:a16="http://schemas.microsoft.com/office/drawing/2014/main" val="979457837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SNP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Deviation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21.8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SNP_A-1507336</a:t>
                      </a:r>
                    </a:p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8.0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1.67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50455537"/>
                  </a:ext>
                </a:extLst>
              </a:tr>
            </a:tbl>
          </a:graphicData>
        </a:graphic>
      </p:graphicFrame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D6BF5BC3-D1D2-93C2-2539-12554999FD5D}"/>
              </a:ext>
            </a:extLst>
          </p:cNvPr>
          <p:cNvSpPr txBox="1"/>
          <p:nvPr/>
        </p:nvSpPr>
        <p:spPr>
          <a:xfrm>
            <a:off x="9552867" y="4429801"/>
            <a:ext cx="518091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Helvetica" pitchFamily="2" charset="0"/>
                <a:ea typeface="BIZ UDGothic" panose="020B0400000000000000" pitchFamily="49" charset="-128"/>
              </a:rPr>
              <a:t>3-3</a:t>
            </a:r>
            <a:endParaRPr kumimoji="1" lang="ja-JP" altLang="en-US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B196F6D-EEA6-B8E7-9278-1AABDF9FD417}"/>
              </a:ext>
            </a:extLst>
          </p:cNvPr>
          <p:cNvSpPr txBox="1"/>
          <p:nvPr/>
        </p:nvSpPr>
        <p:spPr>
          <a:xfrm>
            <a:off x="9195729" y="5704145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大きい順に</a:t>
            </a:r>
            <a:endParaRPr lang="en-US" altLang="ja-JP" sz="1500" dirty="0">
              <a:latin typeface="Helvetica" pitchFamily="2" charset="0"/>
              <a:ea typeface="BIZ UDGothic" panose="020B0400000000000000" pitchFamily="49" charset="-128"/>
            </a:endParaRPr>
          </a:p>
          <a:p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ソートする</a:t>
            </a:r>
          </a:p>
        </p:txBody>
      </p:sp>
      <p:sp>
        <p:nvSpPr>
          <p:cNvPr id="36" name="右矢印 35">
            <a:extLst>
              <a:ext uri="{FF2B5EF4-FFF2-40B4-BE49-F238E27FC236}">
                <a16:creationId xmlns:a16="http://schemas.microsoft.com/office/drawing/2014/main" id="{901D5CD8-8230-5FF7-D882-D7B957E39E18}"/>
              </a:ext>
            </a:extLst>
          </p:cNvPr>
          <p:cNvSpPr/>
          <p:nvPr/>
        </p:nvSpPr>
        <p:spPr>
          <a:xfrm>
            <a:off x="9528622" y="3633600"/>
            <a:ext cx="627545" cy="513289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3453DEF3-EEC3-875D-A843-9BDDE28E6C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8320630"/>
              </p:ext>
            </p:extLst>
          </p:nvPr>
        </p:nvGraphicFramePr>
        <p:xfrm>
          <a:off x="4759172" y="2392761"/>
          <a:ext cx="1828202" cy="263209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38054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690148">
                  <a:extLst>
                    <a:ext uri="{9D8B030D-6E8A-4147-A177-3AD203B41FA5}">
                      <a16:colId xmlns:a16="http://schemas.microsoft.com/office/drawing/2014/main" val="979457837"/>
                    </a:ext>
                  </a:extLst>
                </a:gridCol>
              </a:tblGrid>
              <a:tr h="33645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Control_</a:t>
                      </a:r>
                    </a:p>
                    <a:p>
                      <a:pPr algn="l" fontAlgn="b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average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0.04582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1.02268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0.26682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86091349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0.69286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50455537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0.59562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17950858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0.62730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08610093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0.47889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70161156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0.25895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52199730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0.25608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20139096"/>
                  </a:ext>
                </a:extLst>
              </a:tr>
            </a:tbl>
          </a:graphicData>
        </a:graphic>
      </p:graphicFrame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4954E60A-DFAE-61B8-11DD-7FBBFC392D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917423"/>
              </p:ext>
            </p:extLst>
          </p:nvPr>
        </p:nvGraphicFramePr>
        <p:xfrm>
          <a:off x="7462857" y="1954859"/>
          <a:ext cx="1828202" cy="263209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38054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690148">
                  <a:extLst>
                    <a:ext uri="{9D8B030D-6E8A-4147-A177-3AD203B41FA5}">
                      <a16:colId xmlns:a16="http://schemas.microsoft.com/office/drawing/2014/main" val="979457837"/>
                    </a:ext>
                  </a:extLst>
                </a:gridCol>
              </a:tblGrid>
              <a:tr h="33645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Control_</a:t>
                      </a:r>
                    </a:p>
                    <a:p>
                      <a:pPr algn="l" fontAlgn="b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0001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21.8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86091349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50455537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1.67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17950858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08610093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70161156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52199730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20139096"/>
                  </a:ext>
                </a:extLst>
              </a:tr>
            </a:tbl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885657D-20CD-82E5-3E19-0B33BF9920B1}"/>
              </a:ext>
            </a:extLst>
          </p:cNvPr>
          <p:cNvSpPr txBox="1"/>
          <p:nvPr/>
        </p:nvSpPr>
        <p:spPr>
          <a:xfrm rot="16200000">
            <a:off x="-6261599" y="2051061"/>
            <a:ext cx="15119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健常者</a:t>
            </a:r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(Control)</a:t>
            </a:r>
            <a:endParaRPr lang="ja-JP" altLang="en-US" sz="1500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43745D5-4844-2D42-6970-5910E888F191}"/>
              </a:ext>
            </a:extLst>
          </p:cNvPr>
          <p:cNvSpPr txBox="1"/>
          <p:nvPr/>
        </p:nvSpPr>
        <p:spPr>
          <a:xfrm rot="16200000">
            <a:off x="-6155000" y="4859709"/>
            <a:ext cx="129875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00">
                <a:solidFill>
                  <a:schemeClr val="bg1">
                    <a:lumMod val="75000"/>
                  </a:schemeClr>
                </a:solidFill>
                <a:latin typeface="Helvetica" pitchFamily="2" charset="0"/>
                <a:ea typeface="BIZ UDGothic" panose="020B0400000000000000" pitchFamily="49" charset="-128"/>
              </a:rPr>
              <a:t>患者</a:t>
            </a:r>
            <a:r>
              <a:rPr lang="en-US" altLang="ja-JP" sz="1500" dirty="0">
                <a:solidFill>
                  <a:schemeClr val="bg1">
                    <a:lumMod val="75000"/>
                  </a:schemeClr>
                </a:solidFill>
                <a:latin typeface="Helvetica" pitchFamily="2" charset="0"/>
                <a:ea typeface="BIZ UDGothic" panose="020B0400000000000000" pitchFamily="49" charset="-128"/>
              </a:rPr>
              <a:t>(Bipolar)</a:t>
            </a:r>
            <a:endParaRPr lang="ja-JP" altLang="en-US" sz="1500">
              <a:solidFill>
                <a:schemeClr val="bg1">
                  <a:lumMod val="75000"/>
                </a:schemeClr>
              </a:solidFill>
              <a:latin typeface="Helvetica" pitchFamily="2" charset="0"/>
              <a:ea typeface="BIZ UDGothic" panose="020B0400000000000000" pitchFamily="49" charset="-128"/>
            </a:endParaRPr>
          </a:p>
        </p:txBody>
      </p:sp>
      <p:graphicFrame>
        <p:nvGraphicFramePr>
          <p:cNvPr id="13" name="表 12">
            <a:extLst>
              <a:ext uri="{FF2B5EF4-FFF2-40B4-BE49-F238E27FC236}">
                <a16:creationId xmlns:a16="http://schemas.microsoft.com/office/drawing/2014/main" id="{BABD18BB-F620-836A-DCC5-8E94D5E64F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231292"/>
              </p:ext>
            </p:extLst>
          </p:nvPr>
        </p:nvGraphicFramePr>
        <p:xfrm>
          <a:off x="7869906" y="4863614"/>
          <a:ext cx="1536700" cy="254000"/>
        </p:xfrm>
        <a:graphic>
          <a:graphicData uri="http://schemas.openxmlformats.org/drawingml/2006/table">
            <a:tbl>
              <a:tblPr/>
              <a:tblGrid>
                <a:gridCol w="1536700">
                  <a:extLst>
                    <a:ext uri="{9D8B030D-6E8A-4147-A177-3AD203B41FA5}">
                      <a16:colId xmlns:a16="http://schemas.microsoft.com/office/drawing/2014/main" val="388664758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9095406"/>
                  </a:ext>
                </a:extLst>
              </a:tr>
            </a:tbl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4543C91-32A5-70F0-FFEC-5CDD609BA123}"/>
              </a:ext>
            </a:extLst>
          </p:cNvPr>
          <p:cNvSpPr txBox="1"/>
          <p:nvPr/>
        </p:nvSpPr>
        <p:spPr>
          <a:xfrm>
            <a:off x="4820291" y="5128667"/>
            <a:ext cx="518091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Helvetica" pitchFamily="2" charset="0"/>
                <a:ea typeface="BIZ UDGothic" panose="020B0400000000000000" pitchFamily="49" charset="-128"/>
              </a:rPr>
              <a:t>3-2</a:t>
            </a:r>
            <a:endParaRPr kumimoji="1" lang="ja-JP" altLang="en-US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43F1D64-1574-D29F-B8A3-1CE3F5F80F5F}"/>
              </a:ext>
            </a:extLst>
          </p:cNvPr>
          <p:cNvSpPr txBox="1"/>
          <p:nvPr/>
        </p:nvSpPr>
        <p:spPr>
          <a:xfrm>
            <a:off x="5338382" y="5128667"/>
            <a:ext cx="138371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Control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平均で</a:t>
            </a:r>
            <a:endParaRPr lang="en-US" altLang="ja-JP" sz="1500" dirty="0">
              <a:latin typeface="Helvetica" pitchFamily="2" charset="0"/>
              <a:ea typeface="BIZ UDGothic" panose="020B0400000000000000" pitchFamily="49" charset="-128"/>
            </a:endParaRPr>
          </a:p>
          <a:p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割り算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E48B746E-D0EC-E37C-C7A3-5DFF1F9A671D}"/>
              </a:ext>
            </a:extLst>
          </p:cNvPr>
          <p:cNvCxnSpPr>
            <a:cxnSpLocks/>
          </p:cNvCxnSpPr>
          <p:nvPr/>
        </p:nvCxnSpPr>
        <p:spPr>
          <a:xfrm>
            <a:off x="1962698" y="2319559"/>
            <a:ext cx="2673360" cy="1371695"/>
          </a:xfrm>
          <a:prstGeom prst="line">
            <a:avLst/>
          </a:prstGeom>
          <a:ln>
            <a:headEnd type="oval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56410CBE-A975-0B36-6DC1-490127051263}"/>
              </a:ext>
            </a:extLst>
          </p:cNvPr>
          <p:cNvCxnSpPr>
            <a:cxnSpLocks/>
          </p:cNvCxnSpPr>
          <p:nvPr/>
        </p:nvCxnSpPr>
        <p:spPr>
          <a:xfrm flipV="1">
            <a:off x="6710181" y="2968620"/>
            <a:ext cx="577268" cy="718763"/>
          </a:xfrm>
          <a:prstGeom prst="line">
            <a:avLst/>
          </a:prstGeom>
          <a:ln>
            <a:headEnd type="oval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54317E8-6C0C-3BEF-CFFC-2F1D4911E99C}"/>
              </a:ext>
            </a:extLst>
          </p:cNvPr>
          <p:cNvSpPr txBox="1"/>
          <p:nvPr/>
        </p:nvSpPr>
        <p:spPr>
          <a:xfrm>
            <a:off x="4321735" y="2003334"/>
            <a:ext cx="287931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2. 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健常者</a:t>
            </a:r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(Control)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の平均リスト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883ECBF-53FB-E4FC-C618-C8DEF2250653}"/>
              </a:ext>
            </a:extLst>
          </p:cNvPr>
          <p:cNvSpPr txBox="1"/>
          <p:nvPr/>
        </p:nvSpPr>
        <p:spPr>
          <a:xfrm rot="5400000">
            <a:off x="10939611" y="4135082"/>
            <a:ext cx="56938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……</a:t>
            </a:r>
            <a:endParaRPr lang="ja-JP" altLang="en-US" sz="1500">
              <a:latin typeface="Helvetica" pitchFamily="2" charset="0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32791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BBAD7-1F73-E653-6801-845DE8F76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EE519F9-CD43-827A-FC58-34C8C408F2BA}"/>
              </a:ext>
            </a:extLst>
          </p:cNvPr>
          <p:cNvSpPr txBox="1"/>
          <p:nvPr/>
        </p:nvSpPr>
        <p:spPr>
          <a:xfrm>
            <a:off x="781913" y="4949799"/>
            <a:ext cx="224773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個人を特徴づける</a:t>
            </a:r>
            <a:endParaRPr kumimoji="1" lang="en-US" altLang="ja-JP" sz="1500" dirty="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  <a:p>
            <a:r>
              <a:rPr kumimoji="1"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SNP</a:t>
            </a:r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リスト</a:t>
            </a:r>
            <a:r>
              <a:rPr kumimoji="1"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(</a:t>
            </a:r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ランキング</a:t>
            </a:r>
            <a:r>
              <a:rPr kumimoji="1"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)</a:t>
            </a:r>
            <a:endParaRPr kumimoji="1" lang="ja-JP" altLang="en-US" sz="150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D992AFF-8881-95B7-85F5-A32763963344}"/>
              </a:ext>
            </a:extLst>
          </p:cNvPr>
          <p:cNvSpPr txBox="1"/>
          <p:nvPr/>
        </p:nvSpPr>
        <p:spPr>
          <a:xfrm>
            <a:off x="6284836" y="2416817"/>
            <a:ext cx="185499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500" dirty="0">
                <a:latin typeface="Arial" panose="020B0604020202020204" pitchFamily="34" charset="0"/>
                <a:cs typeface="Arial" panose="020B0604020202020204" pitchFamily="34" charset="0"/>
              </a:rPr>
              <a:t>Running Fisher test</a:t>
            </a:r>
            <a:endParaRPr kumimoji="1" lang="ja-JP" altLang="en-US" sz="1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0D1917C-3156-6B89-950B-48867E916311}"/>
              </a:ext>
            </a:extLst>
          </p:cNvPr>
          <p:cNvSpPr txBox="1"/>
          <p:nvPr/>
        </p:nvSpPr>
        <p:spPr>
          <a:xfrm>
            <a:off x="0" y="23969"/>
            <a:ext cx="3365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u="sng">
                <a:latin typeface="Helvetica" pitchFamily="2" charset="0"/>
                <a:ea typeface="BIZ UDGothic" panose="020B0400000000000000" pitchFamily="49" charset="-128"/>
              </a:rPr>
              <a:t>図</a:t>
            </a:r>
            <a:r>
              <a:rPr lang="en-US" altLang="ja-JP" u="sng" dirty="0">
                <a:latin typeface="Helvetica" pitchFamily="2" charset="0"/>
                <a:ea typeface="BIZ UDGothic" panose="020B0400000000000000" pitchFamily="49" charset="-128"/>
              </a:rPr>
              <a:t>3. </a:t>
            </a:r>
            <a:r>
              <a:rPr lang="en-US" altLang="ja-JP" u="sng" dirty="0" err="1">
                <a:latin typeface="Helvetica" pitchFamily="2" charset="0"/>
                <a:ea typeface="BIZ UDGothic" panose="020B0400000000000000" pitchFamily="49" charset="-128"/>
              </a:rPr>
              <a:t>RFind</a:t>
            </a:r>
            <a:r>
              <a:rPr lang="ja-JP" altLang="en-US" u="sng">
                <a:latin typeface="Helvetica" pitchFamily="2" charset="0"/>
                <a:ea typeface="BIZ UDGothic" panose="020B0400000000000000" pitchFamily="49" charset="-128"/>
              </a:rPr>
              <a:t>アルゴリズムの適用</a:t>
            </a:r>
          </a:p>
        </p:txBody>
      </p:sp>
      <p:sp>
        <p:nvSpPr>
          <p:cNvPr id="18" name="右矢印 17">
            <a:extLst>
              <a:ext uri="{FF2B5EF4-FFF2-40B4-BE49-F238E27FC236}">
                <a16:creationId xmlns:a16="http://schemas.microsoft.com/office/drawing/2014/main" id="{AB86F4F2-DA6B-A5AB-0A8D-3FFCA0C5BC4F}"/>
              </a:ext>
            </a:extLst>
          </p:cNvPr>
          <p:cNvSpPr/>
          <p:nvPr/>
        </p:nvSpPr>
        <p:spPr>
          <a:xfrm>
            <a:off x="6885816" y="2915711"/>
            <a:ext cx="834465" cy="513289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1" name="Picture 4" descr="標準男性ピクトグラム">
            <a:extLst>
              <a:ext uri="{FF2B5EF4-FFF2-40B4-BE49-F238E27FC236}">
                <a16:creationId xmlns:a16="http://schemas.microsoft.com/office/drawing/2014/main" id="{6712D6E2-8B91-4954-4DF8-AE6E83455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686" y="4095743"/>
            <a:ext cx="864000" cy="86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 descr="標準男性ピクトグラム">
            <a:extLst>
              <a:ext uri="{FF2B5EF4-FFF2-40B4-BE49-F238E27FC236}">
                <a16:creationId xmlns:a16="http://schemas.microsoft.com/office/drawing/2014/main" id="{78FA9259-4F04-7C26-A18B-99D9D937C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4583" y="3723091"/>
            <a:ext cx="864000" cy="86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1C82FC4F-C261-7CE3-EE1A-22DDFE53A109}"/>
              </a:ext>
            </a:extLst>
          </p:cNvPr>
          <p:cNvSpPr txBox="1"/>
          <p:nvPr/>
        </p:nvSpPr>
        <p:spPr>
          <a:xfrm>
            <a:off x="9012384" y="2762257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i="1" dirty="0">
                <a:latin typeface="Helvetica" pitchFamily="2" charset="0"/>
              </a:rPr>
              <a:t>Overlap P-value</a:t>
            </a:r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BCA6821E-B3F4-5585-3414-C741CE3BB643}"/>
              </a:ext>
            </a:extLst>
          </p:cNvPr>
          <p:cNvSpPr txBox="1"/>
          <p:nvPr/>
        </p:nvSpPr>
        <p:spPr>
          <a:xfrm>
            <a:off x="8026929" y="3174988"/>
            <a:ext cx="3868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i="1" kern="100" dirty="0" err="1">
                <a:solidFill>
                  <a:srgbClr val="FF0000"/>
                </a:solidFill>
                <a:latin typeface="Arial" panose="020B0604020202020204" pitchFamily="34" charset="0"/>
                <a:ea typeface="BIZ UDゴシック" panose="020B0400000000000000" pitchFamily="49" charset="-128"/>
                <a:cs typeface="Arial" panose="020B0604020202020204" pitchFamily="34" charset="0"/>
              </a:rPr>
              <a:t>RFscore</a:t>
            </a:r>
            <a:r>
              <a:rPr lang="en-US" altLang="ja-JP" i="1" kern="100" dirty="0">
                <a:solidFill>
                  <a:srgbClr val="FF0000"/>
                </a:solidFill>
                <a:latin typeface="Arial" panose="020B0604020202020204" pitchFamily="34" charset="0"/>
                <a:ea typeface="BIZ UDゴシック" panose="020B0400000000000000" pitchFamily="49" charset="-128"/>
                <a:cs typeface="Arial" panose="020B0604020202020204" pitchFamily="34" charset="0"/>
              </a:rPr>
              <a:t> </a:t>
            </a:r>
            <a:r>
              <a:rPr lang="en-US" altLang="ja-JP" i="1" kern="100" dirty="0">
                <a:latin typeface="Arial" panose="020B0604020202020204" pitchFamily="34" charset="0"/>
                <a:ea typeface="BIZ UDゴシック" panose="020B0400000000000000" pitchFamily="49" charset="-128"/>
                <a:cs typeface="Arial" panose="020B0604020202020204" pitchFamily="34" charset="0"/>
              </a:rPr>
              <a:t>= </a:t>
            </a:r>
            <a:r>
              <a:rPr lang="ja-JP" altLang="ja-JP" i="1" kern="100">
                <a:latin typeface="Arial" panose="020B0604020202020204" pitchFamily="34" charset="0"/>
                <a:ea typeface="BIZ UDゴシック" panose="020B0400000000000000" pitchFamily="49" charset="-128"/>
                <a:cs typeface="Arial" panose="020B0604020202020204" pitchFamily="34" charset="0"/>
              </a:rPr>
              <a:t>−</a:t>
            </a:r>
            <a:r>
              <a:rPr lang="en-US" altLang="ja-JP" i="1" kern="100" dirty="0">
                <a:latin typeface="Arial" panose="020B0604020202020204" pitchFamily="34" charset="0"/>
                <a:ea typeface="BIZ UDゴシック" panose="020B0400000000000000" pitchFamily="49" charset="-128"/>
                <a:cs typeface="Arial" panose="020B0604020202020204" pitchFamily="34" charset="0"/>
              </a:rPr>
              <a:t> log</a:t>
            </a:r>
            <a:r>
              <a:rPr lang="en-US" altLang="ja-JP" i="1" kern="100" baseline="-25000" dirty="0">
                <a:latin typeface="Arial" panose="020B0604020202020204" pitchFamily="34" charset="0"/>
                <a:ea typeface="BIZ UDゴシック" panose="020B0400000000000000" pitchFamily="49" charset="-128"/>
                <a:cs typeface="Arial" panose="020B0604020202020204" pitchFamily="34" charset="0"/>
              </a:rPr>
              <a:t>10</a:t>
            </a:r>
            <a:r>
              <a:rPr lang="en-US" altLang="ja-JP" i="1" kern="100" dirty="0">
                <a:latin typeface="Arial" panose="020B0604020202020204" pitchFamily="34" charset="0"/>
                <a:ea typeface="BIZ UDゴシック" panose="020B0400000000000000" pitchFamily="49" charset="-128"/>
                <a:cs typeface="Arial" panose="020B0604020202020204" pitchFamily="34" charset="0"/>
              </a:rPr>
              <a:t>(Overlap P-value)</a:t>
            </a:r>
            <a:endParaRPr kumimoji="1" lang="ja-JP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CF78D48E-173A-626E-5CBA-23A51D1814CD}"/>
              </a:ext>
            </a:extLst>
          </p:cNvPr>
          <p:cNvSpPr txBox="1"/>
          <p:nvPr/>
        </p:nvSpPr>
        <p:spPr>
          <a:xfrm>
            <a:off x="2929397" y="336627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vs</a:t>
            </a:r>
            <a:endParaRPr kumimoji="1" lang="ja-JP" altLang="en-US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3CE6D435-ACD8-F9AC-8742-263C13158CF3}"/>
              </a:ext>
            </a:extLst>
          </p:cNvPr>
          <p:cNvSpPr txBox="1"/>
          <p:nvPr/>
        </p:nvSpPr>
        <p:spPr>
          <a:xfrm>
            <a:off x="8834450" y="4779427"/>
            <a:ext cx="231185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個人毎に</a:t>
            </a:r>
            <a:r>
              <a:rPr kumimoji="1" lang="en-US" altLang="ja-JP" sz="1500" dirty="0" err="1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RFscore</a:t>
            </a:r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を算出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8518605-B402-3CAF-3522-A85B8100A4E9}"/>
              </a:ext>
            </a:extLst>
          </p:cNvPr>
          <p:cNvSpPr txBox="1"/>
          <p:nvPr/>
        </p:nvSpPr>
        <p:spPr>
          <a:xfrm>
            <a:off x="7717785" y="-5102033"/>
            <a:ext cx="2749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u="sng">
                <a:latin typeface="Helvetica" pitchFamily="2" charset="0"/>
                <a:ea typeface="BIZ UDGothic" panose="020B0400000000000000" pitchFamily="49" charset="-128"/>
              </a:rPr>
              <a:t>図</a:t>
            </a:r>
            <a:r>
              <a:rPr lang="en-US" altLang="ja-JP" u="sng" dirty="0">
                <a:latin typeface="Helvetica" pitchFamily="2" charset="0"/>
                <a:ea typeface="BIZ UDGothic" panose="020B0400000000000000" pitchFamily="49" charset="-128"/>
              </a:rPr>
              <a:t>3</a:t>
            </a:r>
            <a:r>
              <a:rPr kumimoji="1" lang="en-US" altLang="ja-JP" u="sng" dirty="0">
                <a:latin typeface="Helvetica" pitchFamily="2" charset="0"/>
                <a:ea typeface="BIZ UDGothic" panose="020B0400000000000000" pitchFamily="49" charset="-128"/>
              </a:rPr>
              <a:t>. </a:t>
            </a:r>
            <a:r>
              <a:rPr kumimoji="1" lang="ja-JP" altLang="en-US" u="sng">
                <a:latin typeface="Helvetica" pitchFamily="2" charset="0"/>
                <a:ea typeface="BIZ UDGothic" panose="020B0400000000000000" pitchFamily="49" charset="-128"/>
              </a:rPr>
              <a:t>個人毎リストの作成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70BAC9C-3185-2641-FE53-5563A1C496FF}"/>
              </a:ext>
            </a:extLst>
          </p:cNvPr>
          <p:cNvSpPr txBox="1"/>
          <p:nvPr/>
        </p:nvSpPr>
        <p:spPr>
          <a:xfrm>
            <a:off x="6990504" y="2047485"/>
            <a:ext cx="518091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Helvetica" pitchFamily="2" charset="0"/>
                <a:ea typeface="BIZ UDGothic" panose="020B0400000000000000" pitchFamily="49" charset="-128"/>
              </a:rPr>
              <a:t>3-4</a:t>
            </a:r>
            <a:endParaRPr kumimoji="1" lang="ja-JP" altLang="en-US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046ACCF-6555-1E40-6F80-4838740B33A5}"/>
              </a:ext>
            </a:extLst>
          </p:cNvPr>
          <p:cNvSpPr txBox="1"/>
          <p:nvPr/>
        </p:nvSpPr>
        <p:spPr>
          <a:xfrm>
            <a:off x="4221024" y="1356133"/>
            <a:ext cx="117852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参照リスト</a:t>
            </a:r>
            <a:endParaRPr kumimoji="1" lang="en-US" altLang="ja-JP" sz="1500" dirty="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  <a:p>
            <a:r>
              <a:rPr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(</a:t>
            </a:r>
            <a:r>
              <a:rPr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例</a:t>
            </a:r>
            <a:r>
              <a:rPr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: beta</a:t>
            </a:r>
            <a:r>
              <a:rPr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値</a:t>
            </a:r>
            <a:r>
              <a:rPr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)</a:t>
            </a:r>
            <a:endParaRPr kumimoji="1" lang="ja-JP" altLang="en-US" sz="150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graphicFrame>
        <p:nvGraphicFramePr>
          <p:cNvPr id="25" name="表 24">
            <a:extLst>
              <a:ext uri="{FF2B5EF4-FFF2-40B4-BE49-F238E27FC236}">
                <a16:creationId xmlns:a16="http://schemas.microsoft.com/office/drawing/2014/main" id="{F80912CD-72B0-EE41-CD4D-10BDEB7FDB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3846388"/>
              </p:ext>
            </p:extLst>
          </p:nvPr>
        </p:nvGraphicFramePr>
        <p:xfrm>
          <a:off x="3843090" y="1910131"/>
          <a:ext cx="1934396" cy="273144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46517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887879">
                  <a:extLst>
                    <a:ext uri="{9D8B030D-6E8A-4147-A177-3AD203B41FA5}">
                      <a16:colId xmlns:a16="http://schemas.microsoft.com/office/drawing/2014/main" val="979457837"/>
                    </a:ext>
                  </a:extLst>
                </a:gridCol>
              </a:tblGrid>
              <a:tr h="38251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SNP</a:t>
                      </a:r>
                    </a:p>
                  </a:txBody>
                  <a:tcPr marL="9525" marR="9525" marT="9525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Beta</a:t>
                      </a:r>
                    </a:p>
                  </a:txBody>
                  <a:tcPr marL="9525" marR="9525" marT="9525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SNP_A-1507322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-0.03163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SNP_A-1507323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0.016633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SNP_A-1507325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-0.02117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86091349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SNP_A-1507326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-0.00961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50455537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SNP_A-1507327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0.008259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17950858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SNP_A-1507329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0.032585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08610093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SNP_A-1507330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-0.00305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70161156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SNP_A-1507331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-0.62486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52199730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SNP_A-1507332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0.017351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20139096"/>
                  </a:ext>
                </a:extLst>
              </a:tr>
            </a:tbl>
          </a:graphicData>
        </a:graphic>
      </p:graphicFrame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8F658976-BB81-B1CA-1FAE-014FEB7CDDFC}"/>
              </a:ext>
            </a:extLst>
          </p:cNvPr>
          <p:cNvSpPr txBox="1"/>
          <p:nvPr/>
        </p:nvSpPr>
        <p:spPr>
          <a:xfrm>
            <a:off x="3755987" y="4959743"/>
            <a:ext cx="266932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疾患</a:t>
            </a:r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を特徴づける</a:t>
            </a:r>
            <a:endParaRPr kumimoji="1" lang="en-US" altLang="ja-JP" sz="1500" dirty="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  <a:p>
            <a:r>
              <a:rPr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SNP</a:t>
            </a:r>
            <a:r>
              <a:rPr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の</a:t>
            </a:r>
            <a:r>
              <a:rPr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β</a:t>
            </a:r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リスト</a:t>
            </a:r>
            <a:endParaRPr lang="en-US" altLang="ja-JP" sz="1500" dirty="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  <a:p>
            <a:r>
              <a:rPr kumimoji="1"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(=</a:t>
            </a:r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疾患リスクを高めるような</a:t>
            </a:r>
            <a:endParaRPr kumimoji="1" lang="en-US" altLang="ja-JP" sz="1500" dirty="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  <a:p>
            <a:r>
              <a:rPr kumimoji="1"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SNP</a:t>
            </a:r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のランキング</a:t>
            </a:r>
            <a:r>
              <a:rPr kumimoji="1"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)</a:t>
            </a:r>
            <a:endParaRPr kumimoji="1" lang="ja-JP" altLang="en-US" sz="150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8AE57998-004F-6614-20CC-3EDE882C99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167530"/>
              </p:ext>
            </p:extLst>
          </p:nvPr>
        </p:nvGraphicFramePr>
        <p:xfrm>
          <a:off x="729585" y="2133607"/>
          <a:ext cx="1828202" cy="12573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30425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697777">
                  <a:extLst>
                    <a:ext uri="{9D8B030D-6E8A-4147-A177-3AD203B41FA5}">
                      <a16:colId xmlns:a16="http://schemas.microsoft.com/office/drawing/2014/main" val="979457837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SNP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Deviation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21.8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SNP_A-1507336</a:t>
                      </a:r>
                    </a:p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8.0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1.67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50455537"/>
                  </a:ext>
                </a:extLst>
              </a:tr>
            </a:tbl>
          </a:graphicData>
        </a:graphic>
      </p:graphicFrame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A772571-C872-0E4C-BE3C-B709A69E6C56}"/>
              </a:ext>
            </a:extLst>
          </p:cNvPr>
          <p:cNvSpPr txBox="1"/>
          <p:nvPr/>
        </p:nvSpPr>
        <p:spPr>
          <a:xfrm rot="5400000">
            <a:off x="1424774" y="3563345"/>
            <a:ext cx="56938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……</a:t>
            </a:r>
            <a:endParaRPr lang="ja-JP" altLang="en-US" sz="1500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2326FDD-370A-CE04-3C12-58227940721F}"/>
              </a:ext>
            </a:extLst>
          </p:cNvPr>
          <p:cNvSpPr txBox="1"/>
          <p:nvPr/>
        </p:nvSpPr>
        <p:spPr>
          <a:xfrm>
            <a:off x="465697" y="1724320"/>
            <a:ext cx="216437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3. 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個人</a:t>
            </a:r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Deviation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リスト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DBB4B64-0CEB-EE4A-A29F-218BC74FE8AB}"/>
              </a:ext>
            </a:extLst>
          </p:cNvPr>
          <p:cNvSpPr txBox="1"/>
          <p:nvPr/>
        </p:nvSpPr>
        <p:spPr>
          <a:xfrm>
            <a:off x="8618436" y="5545199"/>
            <a:ext cx="268535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疾患リスクを推定するスコア</a:t>
            </a:r>
            <a:endParaRPr kumimoji="1" lang="en-US" altLang="ja-JP" sz="1500" dirty="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  <a:p>
            <a:r>
              <a:rPr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、となるはず</a:t>
            </a:r>
            <a:endParaRPr kumimoji="1" lang="ja-JP" altLang="en-US" sz="150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6530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80828-B7A3-B56D-CE7A-039E3C492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表 10">
            <a:extLst>
              <a:ext uri="{FF2B5EF4-FFF2-40B4-BE49-F238E27FC236}">
                <a16:creationId xmlns:a16="http://schemas.microsoft.com/office/drawing/2014/main" id="{3114D0F4-327F-D3B9-77D6-3FDD53D93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393632"/>
              </p:ext>
            </p:extLst>
          </p:nvPr>
        </p:nvGraphicFramePr>
        <p:xfrm>
          <a:off x="1311119" y="1097921"/>
          <a:ext cx="2625958" cy="97296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0158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3831523211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1726811639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3414967065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1277688133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3669988584"/>
                    </a:ext>
                  </a:extLst>
                </a:gridCol>
              </a:tblGrid>
              <a:tr h="282916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  <a:ea typeface="游ゴシック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Cntl_01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Cntl</a:t>
                      </a:r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_02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Cntl</a:t>
                      </a:r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_03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Cntl</a:t>
                      </a:r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_04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Cntl</a:t>
                      </a:r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_05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195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195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195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</a:tbl>
          </a:graphicData>
        </a:graphic>
      </p:graphicFrame>
      <p:graphicFrame>
        <p:nvGraphicFramePr>
          <p:cNvPr id="13" name="表 12">
            <a:extLst>
              <a:ext uri="{FF2B5EF4-FFF2-40B4-BE49-F238E27FC236}">
                <a16:creationId xmlns:a16="http://schemas.microsoft.com/office/drawing/2014/main" id="{6225F4AE-AD8A-22AA-D683-8CEB0CA208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961330"/>
              </p:ext>
            </p:extLst>
          </p:nvPr>
        </p:nvGraphicFramePr>
        <p:xfrm>
          <a:off x="4054155" y="1097920"/>
          <a:ext cx="2625955" cy="96489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0155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3831523211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1726811639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3414967065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1277688133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3669988584"/>
                    </a:ext>
                  </a:extLst>
                </a:gridCol>
              </a:tblGrid>
              <a:tr h="290984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  <a:ea typeface="游ゴシック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ASD_05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168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168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168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</a:tbl>
          </a:graphicData>
        </a:graphic>
      </p:graphicFrame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B951587-3461-7ACA-EE7F-F41A37BDF58B}"/>
              </a:ext>
            </a:extLst>
          </p:cNvPr>
          <p:cNvSpPr txBox="1"/>
          <p:nvPr/>
        </p:nvSpPr>
        <p:spPr>
          <a:xfrm>
            <a:off x="0" y="23969"/>
            <a:ext cx="4070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u="sng">
                <a:latin typeface="Helvetica" pitchFamily="2" charset="0"/>
                <a:ea typeface="BIZ UDGothic" panose="020B0400000000000000" pitchFamily="49" charset="-128"/>
              </a:rPr>
              <a:t>図</a:t>
            </a:r>
            <a:r>
              <a:rPr lang="en-US" altLang="ja-JP" u="sng" dirty="0">
                <a:latin typeface="Helvetica" pitchFamily="2" charset="0"/>
                <a:ea typeface="BIZ UDGothic" panose="020B0400000000000000" pitchFamily="49" charset="-128"/>
              </a:rPr>
              <a:t>4. (</a:t>
            </a:r>
            <a:r>
              <a:rPr kumimoji="1" lang="ja-JP" altLang="en-US" u="sng">
                <a:latin typeface="Helvetica" pitchFamily="2" charset="0"/>
                <a:ea typeface="BIZ UDGothic" panose="020B0400000000000000" pitchFamily="49" charset="-128"/>
              </a:rPr>
              <a:t>補足</a:t>
            </a:r>
            <a:r>
              <a:rPr kumimoji="1" lang="en-US" altLang="ja-JP" u="sng" dirty="0">
                <a:latin typeface="Helvetica" pitchFamily="2" charset="0"/>
                <a:ea typeface="BIZ UDGothic" panose="020B0400000000000000" pitchFamily="49" charset="-128"/>
              </a:rPr>
              <a:t>)</a:t>
            </a:r>
            <a:r>
              <a:rPr lang="en-US" altLang="ja-JP" u="sng" dirty="0">
                <a:latin typeface="Helvetica" pitchFamily="2" charset="0"/>
                <a:ea typeface="BIZ UDGothic" panose="020B0400000000000000" pitchFamily="49" charset="-128"/>
              </a:rPr>
              <a:t> </a:t>
            </a:r>
            <a:r>
              <a:rPr lang="en-US" altLang="ja-JP" u="sng" dirty="0" err="1">
                <a:latin typeface="Helvetica" pitchFamily="2" charset="0"/>
                <a:ea typeface="BIZ UDGothic" panose="020B0400000000000000" pitchFamily="49" charset="-128"/>
              </a:rPr>
              <a:t>RFind</a:t>
            </a:r>
            <a:r>
              <a:rPr lang="en-US" altLang="ja-JP" u="sng" dirty="0">
                <a:latin typeface="Helvetica" pitchFamily="2" charset="0"/>
                <a:ea typeface="BIZ UDGothic" panose="020B0400000000000000" pitchFamily="49" charset="-128"/>
              </a:rPr>
              <a:t>-G</a:t>
            </a:r>
            <a:r>
              <a:rPr lang="ja-JP" altLang="en-US" u="sng">
                <a:latin typeface="Helvetica" pitchFamily="2" charset="0"/>
                <a:ea typeface="BIZ UDGothic" panose="020B0400000000000000" pitchFamily="49" charset="-128"/>
              </a:rPr>
              <a:t>は何をみているか</a:t>
            </a:r>
            <a:endParaRPr kumimoji="1" lang="en-US" altLang="ja-JP" u="sng" dirty="0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5CBC8DF-4D25-F58D-181E-D1CF586E033A}"/>
              </a:ext>
            </a:extLst>
          </p:cNvPr>
          <p:cNvSpPr txBox="1"/>
          <p:nvPr/>
        </p:nvSpPr>
        <p:spPr>
          <a:xfrm>
            <a:off x="2641024" y="2063282"/>
            <a:ext cx="138050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900" dirty="0">
                <a:latin typeface="Helvetica" pitchFamily="2" charset="0"/>
              </a:rPr>
              <a:t>SNP_A: </a:t>
            </a:r>
            <a:r>
              <a:rPr lang="en-US" altLang="ja-JP" sz="900" dirty="0" err="1">
                <a:latin typeface="Helvetica" pitchFamily="2" charset="0"/>
              </a:rPr>
              <a:t>Cntl_ave</a:t>
            </a:r>
            <a:r>
              <a:rPr lang="en-US" altLang="ja-JP" sz="900" dirty="0">
                <a:latin typeface="Helvetica" pitchFamily="2" charset="0"/>
              </a:rPr>
              <a:t> = 0.2</a:t>
            </a:r>
          </a:p>
          <a:p>
            <a:r>
              <a:rPr lang="en-US" altLang="ja-JP" sz="900" dirty="0">
                <a:latin typeface="Helvetica" pitchFamily="2" charset="0"/>
              </a:rPr>
              <a:t>SNP_B: </a:t>
            </a:r>
            <a:r>
              <a:rPr lang="en-US" altLang="ja-JP" sz="900" dirty="0" err="1">
                <a:latin typeface="Helvetica" pitchFamily="2" charset="0"/>
              </a:rPr>
              <a:t>Cntl_ave</a:t>
            </a:r>
            <a:r>
              <a:rPr lang="en-US" altLang="ja-JP" sz="900" dirty="0">
                <a:latin typeface="Helvetica" pitchFamily="2" charset="0"/>
              </a:rPr>
              <a:t> = 0.4</a:t>
            </a:r>
          </a:p>
          <a:p>
            <a:r>
              <a:rPr lang="en-US" altLang="ja-JP" sz="900" dirty="0">
                <a:latin typeface="Helvetica" pitchFamily="2" charset="0"/>
              </a:rPr>
              <a:t>SNP_C: </a:t>
            </a:r>
            <a:r>
              <a:rPr lang="en-US" altLang="ja-JP" sz="900" dirty="0" err="1">
                <a:latin typeface="Helvetica" pitchFamily="2" charset="0"/>
              </a:rPr>
              <a:t>Cntl_ave</a:t>
            </a:r>
            <a:r>
              <a:rPr lang="en-US" altLang="ja-JP" sz="900" dirty="0">
                <a:latin typeface="Helvetica" pitchFamily="2" charset="0"/>
              </a:rPr>
              <a:t> = 0.4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044480E-DFE3-4998-F487-ABF23AE176E7}"/>
              </a:ext>
            </a:extLst>
          </p:cNvPr>
          <p:cNvSpPr txBox="1"/>
          <p:nvPr/>
        </p:nvSpPr>
        <p:spPr>
          <a:xfrm>
            <a:off x="6778042" y="1344124"/>
            <a:ext cx="169309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  <a:latin typeface="Helvetica" pitchFamily="2" charset="0"/>
              </a:rPr>
              <a:t>SNP_A: β=2.7726</a:t>
            </a:r>
          </a:p>
          <a:p>
            <a:r>
              <a:rPr lang="en-US" altLang="ja-JP" sz="1400" dirty="0">
                <a:solidFill>
                  <a:srgbClr val="FF0000"/>
                </a:solidFill>
                <a:latin typeface="Helvetica" pitchFamily="2" charset="0"/>
              </a:rPr>
              <a:t>SNP_B: β=0.8109</a:t>
            </a:r>
            <a:endParaRPr lang="ja-JP" altLang="en-US" sz="1400">
              <a:solidFill>
                <a:srgbClr val="FF0000"/>
              </a:solidFill>
              <a:latin typeface="Helvetica" pitchFamily="2" charset="0"/>
            </a:endParaRPr>
          </a:p>
          <a:p>
            <a:r>
              <a:rPr lang="en-US" altLang="ja-JP" sz="1400" dirty="0">
                <a:solidFill>
                  <a:srgbClr val="FF0000"/>
                </a:solidFill>
                <a:latin typeface="Helvetica" pitchFamily="2" charset="0"/>
              </a:rPr>
              <a:t>SNP_C: β=0.8109</a:t>
            </a:r>
            <a:endParaRPr lang="ja-JP" altLang="en-US" sz="1400">
              <a:solidFill>
                <a:srgbClr val="FF0000"/>
              </a:solidFill>
              <a:latin typeface="Helvetica" pitchFamily="2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F768445-ED9F-BEE0-A6C0-0F8DE36A17BA}"/>
              </a:ext>
            </a:extLst>
          </p:cNvPr>
          <p:cNvSpPr txBox="1"/>
          <p:nvPr/>
        </p:nvSpPr>
        <p:spPr>
          <a:xfrm>
            <a:off x="850220" y="722841"/>
            <a:ext cx="126727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Risk Allele</a:t>
            </a:r>
            <a:r>
              <a:rPr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数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F78760F-F629-E90B-FE08-DD05B988A61A}"/>
              </a:ext>
            </a:extLst>
          </p:cNvPr>
          <p:cNvSpPr txBox="1"/>
          <p:nvPr/>
        </p:nvSpPr>
        <p:spPr>
          <a:xfrm>
            <a:off x="850220" y="2486025"/>
            <a:ext cx="98937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Deviation</a:t>
            </a:r>
            <a:endParaRPr lang="ja-JP" altLang="en-US" sz="150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graphicFrame>
        <p:nvGraphicFramePr>
          <p:cNvPr id="18" name="表 17">
            <a:extLst>
              <a:ext uri="{FF2B5EF4-FFF2-40B4-BE49-F238E27FC236}">
                <a16:creationId xmlns:a16="http://schemas.microsoft.com/office/drawing/2014/main" id="{BBF64C5B-0E95-D184-694A-F46B800EDA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780276"/>
              </p:ext>
            </p:extLst>
          </p:nvPr>
        </p:nvGraphicFramePr>
        <p:xfrm>
          <a:off x="1311120" y="2878954"/>
          <a:ext cx="2625956" cy="97296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0156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3831523211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1726811639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3414967065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1277688133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3669988584"/>
                    </a:ext>
                  </a:extLst>
                </a:gridCol>
              </a:tblGrid>
              <a:tr h="282916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  <a:ea typeface="游ゴシック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Cntl_01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Cntl</a:t>
                      </a:r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_02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Cntl</a:t>
                      </a:r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_03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Cntl</a:t>
                      </a:r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_04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Cntl</a:t>
                      </a:r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_05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195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5.0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195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FFC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FFC000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2.5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195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2.5</a:t>
                      </a:r>
                      <a:endParaRPr kumimoji="1" lang="en-US" altLang="ja-JP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Helvetica" pitchFamily="2" charset="0"/>
                        <a:ea typeface="游ゴシック" panose="020B0400000000000000" pitchFamily="34" charset="-128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2.5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</a:tbl>
          </a:graphicData>
        </a:graphic>
      </p:graphicFrame>
      <p:graphicFrame>
        <p:nvGraphicFramePr>
          <p:cNvPr id="19" name="表 18">
            <a:extLst>
              <a:ext uri="{FF2B5EF4-FFF2-40B4-BE49-F238E27FC236}">
                <a16:creationId xmlns:a16="http://schemas.microsoft.com/office/drawing/2014/main" id="{4035652B-31AF-DDBC-F6B9-E28EEEDF71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10724"/>
              </p:ext>
            </p:extLst>
          </p:nvPr>
        </p:nvGraphicFramePr>
        <p:xfrm>
          <a:off x="4054155" y="2878953"/>
          <a:ext cx="2624930" cy="96489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79850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369016">
                  <a:extLst>
                    <a:ext uri="{9D8B030D-6E8A-4147-A177-3AD203B41FA5}">
                      <a16:colId xmlns:a16="http://schemas.microsoft.com/office/drawing/2014/main" val="3831523211"/>
                    </a:ext>
                  </a:extLst>
                </a:gridCol>
                <a:gridCol w="369016">
                  <a:extLst>
                    <a:ext uri="{9D8B030D-6E8A-4147-A177-3AD203B41FA5}">
                      <a16:colId xmlns:a16="http://schemas.microsoft.com/office/drawing/2014/main" val="1726811639"/>
                    </a:ext>
                  </a:extLst>
                </a:gridCol>
                <a:gridCol w="369016">
                  <a:extLst>
                    <a:ext uri="{9D8B030D-6E8A-4147-A177-3AD203B41FA5}">
                      <a16:colId xmlns:a16="http://schemas.microsoft.com/office/drawing/2014/main" val="3414967065"/>
                    </a:ext>
                  </a:extLst>
                </a:gridCol>
                <a:gridCol w="369016">
                  <a:extLst>
                    <a:ext uri="{9D8B030D-6E8A-4147-A177-3AD203B41FA5}">
                      <a16:colId xmlns:a16="http://schemas.microsoft.com/office/drawing/2014/main" val="1277688133"/>
                    </a:ext>
                  </a:extLst>
                </a:gridCol>
                <a:gridCol w="369016">
                  <a:extLst>
                    <a:ext uri="{9D8B030D-6E8A-4147-A177-3AD203B41FA5}">
                      <a16:colId xmlns:a16="http://schemas.microsoft.com/office/drawing/2014/main" val="3669988584"/>
                    </a:ext>
                  </a:extLst>
                </a:gridCol>
              </a:tblGrid>
              <a:tr h="290984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  <a:ea typeface="游ゴシック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ASD_05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168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5.0</a:t>
                      </a:r>
                      <a:endParaRPr lang="en-US" altLang="ja-JP" sz="1000" b="0" i="0" u="none" strike="noStrike" dirty="0">
                        <a:solidFill>
                          <a:srgbClr val="FF0000"/>
                        </a:solidFill>
                        <a:effectLst/>
                        <a:latin typeface="Helvetica" pitchFamily="2" charset="0"/>
                        <a:ea typeface="游ゴシック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5.0</a:t>
                      </a:r>
                      <a:endParaRPr lang="en-US" altLang="ja-JP" sz="1000" b="0" i="0" u="none" strike="noStrike" dirty="0">
                        <a:solidFill>
                          <a:srgbClr val="FF0000"/>
                        </a:solidFill>
                        <a:effectLst/>
                        <a:latin typeface="Helvetica" pitchFamily="2" charset="0"/>
                        <a:ea typeface="游ゴシック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5.0</a:t>
                      </a:r>
                      <a:endParaRPr lang="en-US" altLang="ja-JP" sz="1000" b="0" i="0" u="none" strike="noStrike" dirty="0">
                        <a:solidFill>
                          <a:srgbClr val="FF0000"/>
                        </a:solidFill>
                        <a:effectLst/>
                        <a:latin typeface="Helvetica" pitchFamily="2" charset="0"/>
                        <a:ea typeface="游ゴシック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5.0</a:t>
                      </a:r>
                      <a:endParaRPr lang="en-US" altLang="ja-JP" sz="1000" b="0" i="0" u="none" strike="noStrike" dirty="0">
                        <a:solidFill>
                          <a:srgbClr val="FF0000"/>
                        </a:solidFill>
                        <a:effectLst/>
                        <a:latin typeface="Helvetica" pitchFamily="2" charset="0"/>
                        <a:ea typeface="游ゴシック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168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2.5</a:t>
                      </a:r>
                      <a:endParaRPr kumimoji="1" lang="en-US" altLang="ja-JP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Helvetica" pitchFamily="2" charset="0"/>
                        <a:ea typeface="游ゴシック" panose="020B0400000000000000" pitchFamily="34" charset="-128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2.5</a:t>
                      </a:r>
                      <a:endParaRPr kumimoji="1" lang="en-US" altLang="ja-JP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Helvetica" pitchFamily="2" charset="0"/>
                        <a:ea typeface="游ゴシック" panose="020B0400000000000000" pitchFamily="34" charset="-128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2.5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168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2.5</a:t>
                      </a:r>
                      <a:endParaRPr kumimoji="1" lang="en-US" altLang="ja-JP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Helvetica" pitchFamily="2" charset="0"/>
                        <a:ea typeface="游ゴシック" panose="020B0400000000000000" pitchFamily="34" charset="-128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2.5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FFC000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2.5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</a:tbl>
          </a:graphicData>
        </a:graphic>
      </p:graphicFrame>
      <p:sp>
        <p:nvSpPr>
          <p:cNvPr id="20" name="右矢印 19">
            <a:extLst>
              <a:ext uri="{FF2B5EF4-FFF2-40B4-BE49-F238E27FC236}">
                <a16:creationId xmlns:a16="http://schemas.microsoft.com/office/drawing/2014/main" id="{81626B4F-0825-D88E-679E-4578547E470F}"/>
              </a:ext>
            </a:extLst>
          </p:cNvPr>
          <p:cNvSpPr/>
          <p:nvPr/>
        </p:nvSpPr>
        <p:spPr>
          <a:xfrm rot="5400000">
            <a:off x="2165727" y="2254160"/>
            <a:ext cx="489760" cy="369332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15FC60B6-094B-97CC-B27A-8A5BD8213F9E}"/>
              </a:ext>
            </a:extLst>
          </p:cNvPr>
          <p:cNvSpPr/>
          <p:nvPr/>
        </p:nvSpPr>
        <p:spPr>
          <a:xfrm>
            <a:off x="2116582" y="4187091"/>
            <a:ext cx="311153" cy="16184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C000"/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EC5B681-C327-D7E9-1C3B-6701050057F9}"/>
              </a:ext>
            </a:extLst>
          </p:cNvPr>
          <p:cNvSpPr txBox="1"/>
          <p:nvPr/>
        </p:nvSpPr>
        <p:spPr>
          <a:xfrm>
            <a:off x="2119712" y="4187091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A</a:t>
            </a:r>
            <a:endParaRPr lang="ja-JP" altLang="en-US" sz="14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6061E3A-21A7-0090-DFD9-3A968AC25343}"/>
              </a:ext>
            </a:extLst>
          </p:cNvPr>
          <p:cNvSpPr txBox="1"/>
          <p:nvPr/>
        </p:nvSpPr>
        <p:spPr>
          <a:xfrm>
            <a:off x="2119712" y="4924687"/>
            <a:ext cx="304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400" dirty="0">
                <a:solidFill>
                  <a:srgbClr val="FFC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B</a:t>
            </a:r>
            <a:endParaRPr lang="ja-JP" altLang="en-US" sz="1400">
              <a:solidFill>
                <a:srgbClr val="FFC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25AD924F-8201-B636-1276-B72B7340993D}"/>
              </a:ext>
            </a:extLst>
          </p:cNvPr>
          <p:cNvSpPr/>
          <p:nvPr/>
        </p:nvSpPr>
        <p:spPr>
          <a:xfrm>
            <a:off x="2495215" y="4187091"/>
            <a:ext cx="311153" cy="16184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C000"/>
              </a:solidFill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85864CE1-0371-8B25-60A0-74141603A82B}"/>
              </a:ext>
            </a:extLst>
          </p:cNvPr>
          <p:cNvSpPr txBox="1"/>
          <p:nvPr/>
        </p:nvSpPr>
        <p:spPr>
          <a:xfrm>
            <a:off x="2433424" y="4924687"/>
            <a:ext cx="434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400" dirty="0">
                <a:solidFill>
                  <a:srgbClr val="FFC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BC</a:t>
            </a:r>
            <a:endParaRPr lang="ja-JP" altLang="en-US" sz="1400">
              <a:solidFill>
                <a:srgbClr val="FFC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3DB9083C-EDFE-1FB7-77DE-674C788F8C55}"/>
              </a:ext>
            </a:extLst>
          </p:cNvPr>
          <p:cNvSpPr/>
          <p:nvPr/>
        </p:nvSpPr>
        <p:spPr>
          <a:xfrm>
            <a:off x="2867734" y="4187091"/>
            <a:ext cx="311153" cy="16184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C000"/>
              </a:solidFill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BFDDA3D6-164C-3CF3-82DE-C6A0C49DA412}"/>
              </a:ext>
            </a:extLst>
          </p:cNvPr>
          <p:cNvSpPr txBox="1"/>
          <p:nvPr/>
        </p:nvSpPr>
        <p:spPr>
          <a:xfrm>
            <a:off x="2866055" y="4924687"/>
            <a:ext cx="314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400" dirty="0">
                <a:solidFill>
                  <a:srgbClr val="FFC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C</a:t>
            </a:r>
            <a:endParaRPr lang="ja-JP" altLang="en-US" sz="1400">
              <a:solidFill>
                <a:srgbClr val="FFC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CACC4C2B-4044-371D-F1A5-03389CAD4DC5}"/>
              </a:ext>
            </a:extLst>
          </p:cNvPr>
          <p:cNvSpPr/>
          <p:nvPr/>
        </p:nvSpPr>
        <p:spPr>
          <a:xfrm>
            <a:off x="3247818" y="4187091"/>
            <a:ext cx="311153" cy="16184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C000"/>
              </a:solidFill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7DF24029-523C-F108-ADDD-D8EC917D4D14}"/>
              </a:ext>
            </a:extLst>
          </p:cNvPr>
          <p:cNvSpPr/>
          <p:nvPr/>
        </p:nvSpPr>
        <p:spPr>
          <a:xfrm>
            <a:off x="3611414" y="4187091"/>
            <a:ext cx="311153" cy="16184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C000"/>
              </a:solidFill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6834CEFB-8D21-AB83-6112-63F54B469E55}"/>
              </a:ext>
            </a:extLst>
          </p:cNvPr>
          <p:cNvSpPr/>
          <p:nvPr/>
        </p:nvSpPr>
        <p:spPr>
          <a:xfrm>
            <a:off x="4862515" y="4187091"/>
            <a:ext cx="311153" cy="16184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C000"/>
              </a:solidFill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670D4F1A-7511-6C04-9534-B915826A41EC}"/>
              </a:ext>
            </a:extLst>
          </p:cNvPr>
          <p:cNvSpPr txBox="1"/>
          <p:nvPr/>
        </p:nvSpPr>
        <p:spPr>
          <a:xfrm>
            <a:off x="4865645" y="4187091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A</a:t>
            </a:r>
            <a:endParaRPr lang="ja-JP" altLang="en-US" sz="14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B9F40D39-5846-EFE8-744F-967775726D4C}"/>
              </a:ext>
            </a:extLst>
          </p:cNvPr>
          <p:cNvSpPr txBox="1"/>
          <p:nvPr/>
        </p:nvSpPr>
        <p:spPr>
          <a:xfrm>
            <a:off x="4800724" y="4924687"/>
            <a:ext cx="434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400" dirty="0">
                <a:solidFill>
                  <a:srgbClr val="FFC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BC</a:t>
            </a:r>
            <a:endParaRPr lang="ja-JP" altLang="en-US" sz="1400">
              <a:solidFill>
                <a:srgbClr val="FFC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338E7AA9-01C3-85D4-F6F4-3F4F6B6B0970}"/>
              </a:ext>
            </a:extLst>
          </p:cNvPr>
          <p:cNvSpPr/>
          <p:nvPr/>
        </p:nvSpPr>
        <p:spPr>
          <a:xfrm>
            <a:off x="5235098" y="4187091"/>
            <a:ext cx="311153" cy="16184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C000"/>
              </a:solidFill>
            </a:endParaRP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F705669F-E0DD-E326-413B-49FE30BE14CE}"/>
              </a:ext>
            </a:extLst>
          </p:cNvPr>
          <p:cNvSpPr txBox="1"/>
          <p:nvPr/>
        </p:nvSpPr>
        <p:spPr>
          <a:xfrm>
            <a:off x="5238228" y="4187091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A</a:t>
            </a:r>
            <a:endParaRPr lang="ja-JP" altLang="en-US" sz="14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4FE738EC-93B1-1E8D-B972-2F9D513C38C2}"/>
              </a:ext>
            </a:extLst>
          </p:cNvPr>
          <p:cNvSpPr txBox="1"/>
          <p:nvPr/>
        </p:nvSpPr>
        <p:spPr>
          <a:xfrm>
            <a:off x="5173307" y="4924687"/>
            <a:ext cx="434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400" dirty="0">
                <a:solidFill>
                  <a:srgbClr val="FFC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BC</a:t>
            </a:r>
            <a:endParaRPr lang="ja-JP" altLang="en-US" sz="1400">
              <a:solidFill>
                <a:srgbClr val="FFC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F21497DE-CDB4-FAB0-758B-84CEAA18D696}"/>
              </a:ext>
            </a:extLst>
          </p:cNvPr>
          <p:cNvSpPr/>
          <p:nvPr/>
        </p:nvSpPr>
        <p:spPr>
          <a:xfrm>
            <a:off x="5599242" y="4187091"/>
            <a:ext cx="311153" cy="16184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C000"/>
              </a:solidFill>
            </a:endParaRP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90EC941E-97A1-4EF3-BD49-5F2B5B270AF0}"/>
              </a:ext>
            </a:extLst>
          </p:cNvPr>
          <p:cNvSpPr txBox="1"/>
          <p:nvPr/>
        </p:nvSpPr>
        <p:spPr>
          <a:xfrm>
            <a:off x="5602372" y="4187091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A</a:t>
            </a:r>
            <a:endParaRPr lang="ja-JP" altLang="en-US" sz="14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419B478C-0B17-4241-3C5A-E64C8D2A8318}"/>
              </a:ext>
            </a:extLst>
          </p:cNvPr>
          <p:cNvSpPr txBox="1"/>
          <p:nvPr/>
        </p:nvSpPr>
        <p:spPr>
          <a:xfrm>
            <a:off x="5602372" y="4924687"/>
            <a:ext cx="304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400" dirty="0">
                <a:solidFill>
                  <a:srgbClr val="FFC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B</a:t>
            </a:r>
            <a:endParaRPr lang="ja-JP" altLang="en-US" sz="1400">
              <a:solidFill>
                <a:srgbClr val="FFC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4193DFCE-1D5F-42FB-38C9-46A38196CADF}"/>
              </a:ext>
            </a:extLst>
          </p:cNvPr>
          <p:cNvSpPr/>
          <p:nvPr/>
        </p:nvSpPr>
        <p:spPr>
          <a:xfrm>
            <a:off x="5978986" y="4187091"/>
            <a:ext cx="311153" cy="16184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C000"/>
              </a:solidFill>
            </a:endParaRP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DCEC0F73-955D-49A6-BD90-E6838FD79412}"/>
              </a:ext>
            </a:extLst>
          </p:cNvPr>
          <p:cNvSpPr txBox="1"/>
          <p:nvPr/>
        </p:nvSpPr>
        <p:spPr>
          <a:xfrm>
            <a:off x="5982116" y="4187091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A</a:t>
            </a:r>
            <a:endParaRPr lang="ja-JP" altLang="en-US" sz="14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CEEE40D8-DD1A-D84A-440A-5691A5DE120A}"/>
              </a:ext>
            </a:extLst>
          </p:cNvPr>
          <p:cNvSpPr/>
          <p:nvPr/>
        </p:nvSpPr>
        <p:spPr>
          <a:xfrm>
            <a:off x="6351536" y="4187091"/>
            <a:ext cx="311153" cy="16184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C000"/>
              </a:solidFill>
            </a:endParaRP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C8681998-628C-D055-BED7-47EB83167506}"/>
              </a:ext>
            </a:extLst>
          </p:cNvPr>
          <p:cNvSpPr txBox="1"/>
          <p:nvPr/>
        </p:nvSpPr>
        <p:spPr>
          <a:xfrm>
            <a:off x="6349857" y="4924687"/>
            <a:ext cx="314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400" dirty="0">
                <a:solidFill>
                  <a:srgbClr val="FFC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C</a:t>
            </a:r>
            <a:endParaRPr lang="ja-JP" altLang="en-US" sz="1400">
              <a:solidFill>
                <a:srgbClr val="FFC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FB1B4789-963F-E04F-E75C-2E8018D1F5B7}"/>
              </a:ext>
            </a:extLst>
          </p:cNvPr>
          <p:cNvSpPr/>
          <p:nvPr/>
        </p:nvSpPr>
        <p:spPr>
          <a:xfrm>
            <a:off x="7373403" y="4187091"/>
            <a:ext cx="311153" cy="16184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C000"/>
              </a:solidFill>
            </a:endParaRP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2897DABD-9BAB-20EE-A7CE-F443AD74FFA0}"/>
              </a:ext>
            </a:extLst>
          </p:cNvPr>
          <p:cNvSpPr txBox="1"/>
          <p:nvPr/>
        </p:nvSpPr>
        <p:spPr>
          <a:xfrm>
            <a:off x="7376533" y="4187091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A</a:t>
            </a:r>
            <a:endParaRPr lang="ja-JP" altLang="en-US" sz="14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B2918F34-E04C-63D4-756A-482EDE3FD96D}"/>
              </a:ext>
            </a:extLst>
          </p:cNvPr>
          <p:cNvSpPr txBox="1"/>
          <p:nvPr/>
        </p:nvSpPr>
        <p:spPr>
          <a:xfrm>
            <a:off x="7311612" y="4924687"/>
            <a:ext cx="434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400" dirty="0">
                <a:solidFill>
                  <a:srgbClr val="FFC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BC</a:t>
            </a:r>
            <a:endParaRPr lang="ja-JP" altLang="en-US" sz="1400">
              <a:solidFill>
                <a:srgbClr val="FFC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D49315D1-E929-383C-65D3-C32DE96180A7}"/>
              </a:ext>
            </a:extLst>
          </p:cNvPr>
          <p:cNvSpPr txBox="1"/>
          <p:nvPr/>
        </p:nvSpPr>
        <p:spPr>
          <a:xfrm>
            <a:off x="7126141" y="3757272"/>
            <a:ext cx="825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4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β</a:t>
            </a:r>
            <a:r>
              <a:rPr lang="ja-JP" altLang="en-US" sz="14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リスト</a:t>
            </a:r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17A4CF33-E308-22E2-78E3-4B28AC9D7F89}"/>
              </a:ext>
            </a:extLst>
          </p:cNvPr>
          <p:cNvSpPr txBox="1"/>
          <p:nvPr/>
        </p:nvSpPr>
        <p:spPr>
          <a:xfrm>
            <a:off x="850220" y="6019955"/>
            <a:ext cx="138531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5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PRS</a:t>
            </a:r>
          </a:p>
          <a:p>
            <a:r>
              <a:rPr lang="en-US" altLang="ja-JP" sz="15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(β</a:t>
            </a:r>
            <a:r>
              <a:rPr lang="ja-JP" altLang="en-US" sz="150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の線形加算</a:t>
            </a:r>
            <a:r>
              <a:rPr lang="en-US" altLang="ja-JP" sz="15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)</a:t>
            </a:r>
            <a:endParaRPr lang="ja-JP" altLang="en-US" sz="15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616AF5F4-0707-9908-6E4F-06A0B2F188AB}"/>
              </a:ext>
            </a:extLst>
          </p:cNvPr>
          <p:cNvSpPr txBox="1"/>
          <p:nvPr/>
        </p:nvSpPr>
        <p:spPr>
          <a:xfrm>
            <a:off x="6944040" y="4706325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vs</a:t>
            </a:r>
            <a:endParaRPr lang="ja-JP" altLang="en-US" sz="140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A0661EEF-EB3D-E748-C3FC-1F48A4BB22B6}"/>
              </a:ext>
            </a:extLst>
          </p:cNvPr>
          <p:cNvSpPr txBox="1"/>
          <p:nvPr/>
        </p:nvSpPr>
        <p:spPr>
          <a:xfrm rot="19023460">
            <a:off x="5337065" y="5928100"/>
            <a:ext cx="5725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0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3.5835</a:t>
            </a:r>
            <a:endParaRPr lang="ja-JP" altLang="en-US" sz="10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89C4D1FC-3612-F8D7-574C-3B0BF2231DF2}"/>
              </a:ext>
            </a:extLst>
          </p:cNvPr>
          <p:cNvSpPr txBox="1"/>
          <p:nvPr/>
        </p:nvSpPr>
        <p:spPr>
          <a:xfrm rot="19023460">
            <a:off x="1862892" y="5928100"/>
            <a:ext cx="5725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0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3.5835</a:t>
            </a:r>
            <a:endParaRPr lang="ja-JP" altLang="en-US" sz="10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2D474083-19EF-9F5E-E636-9294285F09E5}"/>
              </a:ext>
            </a:extLst>
          </p:cNvPr>
          <p:cNvSpPr txBox="1"/>
          <p:nvPr/>
        </p:nvSpPr>
        <p:spPr>
          <a:xfrm rot="19023460">
            <a:off x="3628139" y="5819985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0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0</a:t>
            </a:r>
            <a:endParaRPr lang="ja-JP" altLang="en-US" sz="10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A9D2CFDF-14D2-3B06-7C0C-7B31930682A2}"/>
              </a:ext>
            </a:extLst>
          </p:cNvPr>
          <p:cNvSpPr txBox="1"/>
          <p:nvPr/>
        </p:nvSpPr>
        <p:spPr>
          <a:xfrm rot="19023460">
            <a:off x="3273909" y="5819985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0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0</a:t>
            </a:r>
            <a:endParaRPr lang="ja-JP" altLang="en-US" sz="10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30DB03F1-43FA-7427-EF07-7563A5D8DAF2}"/>
              </a:ext>
            </a:extLst>
          </p:cNvPr>
          <p:cNvSpPr txBox="1"/>
          <p:nvPr/>
        </p:nvSpPr>
        <p:spPr>
          <a:xfrm rot="19023460">
            <a:off x="6101485" y="5928100"/>
            <a:ext cx="5725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0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0.8109</a:t>
            </a:r>
            <a:endParaRPr lang="ja-JP" altLang="en-US" sz="10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5BD4243E-9684-40FD-9632-10AA9F0314D6}"/>
              </a:ext>
            </a:extLst>
          </p:cNvPr>
          <p:cNvSpPr txBox="1"/>
          <p:nvPr/>
        </p:nvSpPr>
        <p:spPr>
          <a:xfrm rot="19023460">
            <a:off x="2621589" y="5928100"/>
            <a:ext cx="5725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0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0.8109</a:t>
            </a:r>
            <a:endParaRPr lang="ja-JP" altLang="en-US" sz="10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3A3E2B15-A624-BDDE-5C20-4A26B8DA5181}"/>
              </a:ext>
            </a:extLst>
          </p:cNvPr>
          <p:cNvSpPr txBox="1"/>
          <p:nvPr/>
        </p:nvSpPr>
        <p:spPr>
          <a:xfrm rot="19023460">
            <a:off x="5714731" y="5928100"/>
            <a:ext cx="5725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0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2.7726</a:t>
            </a:r>
            <a:endParaRPr lang="ja-JP" altLang="en-US" sz="10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69EAB8E7-0579-C863-3632-569AAF20FEF6}"/>
              </a:ext>
            </a:extLst>
          </p:cNvPr>
          <p:cNvSpPr txBox="1"/>
          <p:nvPr/>
        </p:nvSpPr>
        <p:spPr>
          <a:xfrm rot="19023460">
            <a:off x="2252214" y="5928100"/>
            <a:ext cx="5725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0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1.6218</a:t>
            </a:r>
            <a:endParaRPr lang="ja-JP" altLang="en-US" sz="10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454238AD-080D-6003-70FE-5F6CDFF4E0CF}"/>
              </a:ext>
            </a:extLst>
          </p:cNvPr>
          <p:cNvSpPr txBox="1"/>
          <p:nvPr/>
        </p:nvSpPr>
        <p:spPr>
          <a:xfrm rot="19023460">
            <a:off x="4612151" y="5928100"/>
            <a:ext cx="5725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0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4.3944</a:t>
            </a:r>
            <a:endParaRPr lang="ja-JP" altLang="en-US" sz="10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C160720F-0112-317D-CDFD-3F684DB1491A}"/>
              </a:ext>
            </a:extLst>
          </p:cNvPr>
          <p:cNvSpPr txBox="1"/>
          <p:nvPr/>
        </p:nvSpPr>
        <p:spPr>
          <a:xfrm rot="19023460">
            <a:off x="4993905" y="5928100"/>
            <a:ext cx="5725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0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4.3944</a:t>
            </a:r>
            <a:endParaRPr lang="ja-JP" altLang="en-US" sz="10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B88DA39A-A533-8385-F35E-4335741A1933}"/>
              </a:ext>
            </a:extLst>
          </p:cNvPr>
          <p:cNvSpPr txBox="1"/>
          <p:nvPr/>
        </p:nvSpPr>
        <p:spPr>
          <a:xfrm>
            <a:off x="850220" y="4056107"/>
            <a:ext cx="98937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Deviation</a:t>
            </a:r>
          </a:p>
          <a:p>
            <a:r>
              <a:rPr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リスト</a:t>
            </a:r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2F3EED87-A231-B155-2229-50293ADCDFA8}"/>
              </a:ext>
            </a:extLst>
          </p:cNvPr>
          <p:cNvSpPr txBox="1"/>
          <p:nvPr/>
        </p:nvSpPr>
        <p:spPr>
          <a:xfrm>
            <a:off x="8893309" y="2111812"/>
            <a:ext cx="153118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500" dirty="0" err="1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RFscore</a:t>
            </a:r>
            <a:r>
              <a:rPr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の場合</a:t>
            </a:r>
            <a:endParaRPr lang="en-US" altLang="ja-JP" sz="1500" dirty="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  <a:p>
            <a:r>
              <a:rPr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順位を評価する</a:t>
            </a:r>
          </a:p>
        </p:txBody>
      </p:sp>
      <p:sp>
        <p:nvSpPr>
          <p:cNvPr id="109" name="右矢印 108">
            <a:extLst>
              <a:ext uri="{FF2B5EF4-FFF2-40B4-BE49-F238E27FC236}">
                <a16:creationId xmlns:a16="http://schemas.microsoft.com/office/drawing/2014/main" id="{69469643-11EE-93FE-F7D6-BADB070FD005}"/>
              </a:ext>
            </a:extLst>
          </p:cNvPr>
          <p:cNvSpPr/>
          <p:nvPr/>
        </p:nvSpPr>
        <p:spPr>
          <a:xfrm rot="5400000">
            <a:off x="7012187" y="2683877"/>
            <a:ext cx="1023710" cy="369332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2" name="正方形/長方形 121">
            <a:extLst>
              <a:ext uri="{FF2B5EF4-FFF2-40B4-BE49-F238E27FC236}">
                <a16:creationId xmlns:a16="http://schemas.microsoft.com/office/drawing/2014/main" id="{B0A20F91-5901-F808-FEA5-018536DDA04A}"/>
              </a:ext>
            </a:extLst>
          </p:cNvPr>
          <p:cNvSpPr/>
          <p:nvPr/>
        </p:nvSpPr>
        <p:spPr>
          <a:xfrm>
            <a:off x="9812497" y="3034608"/>
            <a:ext cx="311153" cy="16184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C000"/>
              </a:solidFill>
            </a:endParaRPr>
          </a:p>
        </p:txBody>
      </p:sp>
      <p:sp>
        <p:nvSpPr>
          <p:cNvPr id="123" name="テキスト ボックス 122">
            <a:extLst>
              <a:ext uri="{FF2B5EF4-FFF2-40B4-BE49-F238E27FC236}">
                <a16:creationId xmlns:a16="http://schemas.microsoft.com/office/drawing/2014/main" id="{D8F2A4FB-7854-E91E-B801-D5E9EB0BD8F6}"/>
              </a:ext>
            </a:extLst>
          </p:cNvPr>
          <p:cNvSpPr txBox="1"/>
          <p:nvPr/>
        </p:nvSpPr>
        <p:spPr>
          <a:xfrm>
            <a:off x="9750706" y="3772204"/>
            <a:ext cx="434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400" dirty="0">
                <a:solidFill>
                  <a:srgbClr val="FFC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BC</a:t>
            </a:r>
            <a:endParaRPr lang="ja-JP" altLang="en-US" sz="1400">
              <a:solidFill>
                <a:srgbClr val="FFC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137" name="正方形/長方形 136">
            <a:extLst>
              <a:ext uri="{FF2B5EF4-FFF2-40B4-BE49-F238E27FC236}">
                <a16:creationId xmlns:a16="http://schemas.microsoft.com/office/drawing/2014/main" id="{6E43A731-73BC-BD32-4E1B-A4B3AA72EBFE}"/>
              </a:ext>
            </a:extLst>
          </p:cNvPr>
          <p:cNvSpPr/>
          <p:nvPr/>
        </p:nvSpPr>
        <p:spPr>
          <a:xfrm>
            <a:off x="9420449" y="3034608"/>
            <a:ext cx="311153" cy="16184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C000"/>
              </a:solidFill>
            </a:endParaRPr>
          </a:p>
        </p:txBody>
      </p:sp>
      <p:sp>
        <p:nvSpPr>
          <p:cNvPr id="138" name="テキスト ボックス 137">
            <a:extLst>
              <a:ext uri="{FF2B5EF4-FFF2-40B4-BE49-F238E27FC236}">
                <a16:creationId xmlns:a16="http://schemas.microsoft.com/office/drawing/2014/main" id="{EB7AA80C-2C62-92AB-60D0-8CA6D69F5071}"/>
              </a:ext>
            </a:extLst>
          </p:cNvPr>
          <p:cNvSpPr txBox="1"/>
          <p:nvPr/>
        </p:nvSpPr>
        <p:spPr>
          <a:xfrm>
            <a:off x="9423579" y="3034608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A</a:t>
            </a:r>
            <a:endParaRPr lang="ja-JP" altLang="en-US" sz="14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150" name="正方形/長方形 149">
            <a:extLst>
              <a:ext uri="{FF2B5EF4-FFF2-40B4-BE49-F238E27FC236}">
                <a16:creationId xmlns:a16="http://schemas.microsoft.com/office/drawing/2014/main" id="{867C0CB1-CB67-383D-B966-65C26E1BCB65}"/>
              </a:ext>
            </a:extLst>
          </p:cNvPr>
          <p:cNvSpPr/>
          <p:nvPr/>
        </p:nvSpPr>
        <p:spPr>
          <a:xfrm>
            <a:off x="10799855" y="3034608"/>
            <a:ext cx="311153" cy="16184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C000"/>
              </a:solidFill>
            </a:endParaRPr>
          </a:p>
        </p:txBody>
      </p:sp>
      <p:sp>
        <p:nvSpPr>
          <p:cNvPr id="151" name="テキスト ボックス 150">
            <a:extLst>
              <a:ext uri="{FF2B5EF4-FFF2-40B4-BE49-F238E27FC236}">
                <a16:creationId xmlns:a16="http://schemas.microsoft.com/office/drawing/2014/main" id="{7B1BB10C-FD98-FAB2-28AB-29BB5458B5FF}"/>
              </a:ext>
            </a:extLst>
          </p:cNvPr>
          <p:cNvSpPr txBox="1"/>
          <p:nvPr/>
        </p:nvSpPr>
        <p:spPr>
          <a:xfrm>
            <a:off x="10802985" y="3034608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A</a:t>
            </a:r>
            <a:endParaRPr lang="ja-JP" altLang="en-US" sz="14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152" name="テキスト ボックス 151">
            <a:extLst>
              <a:ext uri="{FF2B5EF4-FFF2-40B4-BE49-F238E27FC236}">
                <a16:creationId xmlns:a16="http://schemas.microsoft.com/office/drawing/2014/main" id="{819CC1F7-C471-4CD2-F095-95A0068E71B9}"/>
              </a:ext>
            </a:extLst>
          </p:cNvPr>
          <p:cNvSpPr txBox="1"/>
          <p:nvPr/>
        </p:nvSpPr>
        <p:spPr>
          <a:xfrm>
            <a:off x="10738064" y="3772204"/>
            <a:ext cx="434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400" dirty="0">
                <a:solidFill>
                  <a:srgbClr val="FFC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BC</a:t>
            </a:r>
            <a:endParaRPr lang="ja-JP" altLang="en-US" sz="1400">
              <a:solidFill>
                <a:srgbClr val="FFC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153" name="テキスト ボックス 152">
            <a:extLst>
              <a:ext uri="{FF2B5EF4-FFF2-40B4-BE49-F238E27FC236}">
                <a16:creationId xmlns:a16="http://schemas.microsoft.com/office/drawing/2014/main" id="{BC12B69F-22AD-935C-329F-2A705227947E}"/>
              </a:ext>
            </a:extLst>
          </p:cNvPr>
          <p:cNvSpPr txBox="1"/>
          <p:nvPr/>
        </p:nvSpPr>
        <p:spPr>
          <a:xfrm>
            <a:off x="10552593" y="2443206"/>
            <a:ext cx="8258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14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参照</a:t>
            </a:r>
            <a:endParaRPr lang="en-US" altLang="ja-JP" sz="1400" dirty="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  <a:p>
            <a:pPr algn="ctr"/>
            <a:r>
              <a:rPr lang="en-US" altLang="ja-JP" sz="14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β</a:t>
            </a:r>
            <a:r>
              <a:rPr lang="ja-JP" altLang="en-US" sz="14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リスト</a:t>
            </a:r>
          </a:p>
        </p:txBody>
      </p:sp>
      <p:sp>
        <p:nvSpPr>
          <p:cNvPr id="154" name="テキスト ボックス 153">
            <a:extLst>
              <a:ext uri="{FF2B5EF4-FFF2-40B4-BE49-F238E27FC236}">
                <a16:creationId xmlns:a16="http://schemas.microsoft.com/office/drawing/2014/main" id="{708A9B6F-4605-7D47-17DD-82EAAFA22AB4}"/>
              </a:ext>
            </a:extLst>
          </p:cNvPr>
          <p:cNvSpPr txBox="1"/>
          <p:nvPr/>
        </p:nvSpPr>
        <p:spPr>
          <a:xfrm>
            <a:off x="10246922" y="3553842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vs</a:t>
            </a:r>
            <a:endParaRPr lang="ja-JP" altLang="en-US" sz="140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154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65D30-1D04-E4FE-6704-8B0007AB4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表 10">
            <a:extLst>
              <a:ext uri="{FF2B5EF4-FFF2-40B4-BE49-F238E27FC236}">
                <a16:creationId xmlns:a16="http://schemas.microsoft.com/office/drawing/2014/main" id="{C445D3C9-8377-157E-2EDB-4ACEBB33C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381500"/>
              </p:ext>
            </p:extLst>
          </p:nvPr>
        </p:nvGraphicFramePr>
        <p:xfrm>
          <a:off x="1228828" y="1097920"/>
          <a:ext cx="2625958" cy="119251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0158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3831523211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1726811639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3414967065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1277688133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3669988584"/>
                    </a:ext>
                  </a:extLst>
                </a:gridCol>
              </a:tblGrid>
              <a:tr h="282916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  <a:ea typeface="游ゴシック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健常01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健常</a:t>
                      </a:r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健常</a:t>
                      </a:r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健常</a:t>
                      </a:r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健常</a:t>
                      </a:r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195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195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195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  <a:tr h="219548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SNP_D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14752687"/>
                  </a:ext>
                </a:extLst>
              </a:tr>
            </a:tbl>
          </a:graphicData>
        </a:graphic>
      </p:graphicFrame>
      <p:graphicFrame>
        <p:nvGraphicFramePr>
          <p:cNvPr id="13" name="表 12">
            <a:extLst>
              <a:ext uri="{FF2B5EF4-FFF2-40B4-BE49-F238E27FC236}">
                <a16:creationId xmlns:a16="http://schemas.microsoft.com/office/drawing/2014/main" id="{270BD5CF-E0B6-0EFC-C9D3-3292E4AC50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242968"/>
              </p:ext>
            </p:extLst>
          </p:nvPr>
        </p:nvGraphicFramePr>
        <p:xfrm>
          <a:off x="4054155" y="1097920"/>
          <a:ext cx="2625955" cy="118175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0155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3831523211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1726811639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3414967065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1277688133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3669988584"/>
                    </a:ext>
                  </a:extLst>
                </a:gridCol>
              </a:tblGrid>
              <a:tr h="290984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  <a:ea typeface="游ゴシック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患者01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患者</a:t>
                      </a:r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患者</a:t>
                      </a:r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患者</a:t>
                      </a:r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患者</a:t>
                      </a:r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168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168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168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  <a:tr h="216858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SNP_D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28941718"/>
                  </a:ext>
                </a:extLst>
              </a:tr>
            </a:tbl>
          </a:graphicData>
        </a:graphic>
      </p:graphicFrame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21F1FB0-50FB-6C8D-074F-213CC4A6FDCE}"/>
              </a:ext>
            </a:extLst>
          </p:cNvPr>
          <p:cNvSpPr txBox="1"/>
          <p:nvPr/>
        </p:nvSpPr>
        <p:spPr>
          <a:xfrm>
            <a:off x="0" y="23969"/>
            <a:ext cx="2903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u="sng" dirty="0" err="1">
                <a:latin typeface="Helvetica" pitchFamily="2" charset="0"/>
                <a:ea typeface="BIZ UDGothic" panose="020B0400000000000000" pitchFamily="49" charset="-128"/>
              </a:rPr>
              <a:t>RFind</a:t>
            </a:r>
            <a:r>
              <a:rPr lang="en-US" altLang="ja-JP" u="sng" dirty="0">
                <a:latin typeface="Helvetica" pitchFamily="2" charset="0"/>
                <a:ea typeface="BIZ UDGothic" panose="020B0400000000000000" pitchFamily="49" charset="-128"/>
              </a:rPr>
              <a:t>-G</a:t>
            </a:r>
            <a:r>
              <a:rPr lang="ja-JP" altLang="en-US" u="sng">
                <a:latin typeface="Helvetica" pitchFamily="2" charset="0"/>
                <a:ea typeface="BIZ UDGothic" panose="020B0400000000000000" pitchFamily="49" charset="-128"/>
              </a:rPr>
              <a:t>は何をみているか</a:t>
            </a:r>
            <a:endParaRPr kumimoji="1" lang="en-US" altLang="ja-JP" u="sng" dirty="0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D39CB58-782D-D013-A336-A7F379C62FDB}"/>
              </a:ext>
            </a:extLst>
          </p:cNvPr>
          <p:cNvSpPr txBox="1"/>
          <p:nvPr/>
        </p:nvSpPr>
        <p:spPr>
          <a:xfrm>
            <a:off x="3456802" y="189273"/>
            <a:ext cx="883575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900">
                <a:latin typeface="Helvetica" pitchFamily="2" charset="0"/>
              </a:rPr>
              <a:t>健常者平均</a:t>
            </a:r>
            <a:endParaRPr lang="en-US" altLang="ja-JP" sz="900" dirty="0">
              <a:latin typeface="Helvetica" pitchFamily="2" charset="0"/>
            </a:endParaRPr>
          </a:p>
          <a:p>
            <a:r>
              <a:rPr lang="en-US" altLang="ja-JP" sz="900" dirty="0">
                <a:latin typeface="Helvetica" pitchFamily="2" charset="0"/>
              </a:rPr>
              <a:t>SNP_A = 0.2</a:t>
            </a:r>
          </a:p>
          <a:p>
            <a:r>
              <a:rPr lang="en-US" altLang="ja-JP" sz="900" dirty="0">
                <a:latin typeface="Helvetica" pitchFamily="2" charset="0"/>
              </a:rPr>
              <a:t>SNP_B = 0.4</a:t>
            </a:r>
          </a:p>
          <a:p>
            <a:r>
              <a:rPr lang="en-US" altLang="ja-JP" sz="900" dirty="0">
                <a:latin typeface="Helvetica" pitchFamily="2" charset="0"/>
              </a:rPr>
              <a:t>SNP_C = 0.4</a:t>
            </a:r>
          </a:p>
          <a:p>
            <a:r>
              <a:rPr lang="en-US" altLang="ja-JP" sz="900" dirty="0">
                <a:latin typeface="Helvetica" pitchFamily="2" charset="0"/>
              </a:rPr>
              <a:t>SNP_D = 0.2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9BA0F92-B769-17F0-6FB5-7C8322DAC10C}"/>
              </a:ext>
            </a:extLst>
          </p:cNvPr>
          <p:cNvSpPr txBox="1"/>
          <p:nvPr/>
        </p:nvSpPr>
        <p:spPr>
          <a:xfrm>
            <a:off x="850220" y="722841"/>
            <a:ext cx="126727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Risk Allele</a:t>
            </a:r>
            <a:r>
              <a:rPr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数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8A2E1ED-A31B-643B-3913-72859BCB7F94}"/>
              </a:ext>
            </a:extLst>
          </p:cNvPr>
          <p:cNvSpPr txBox="1"/>
          <p:nvPr/>
        </p:nvSpPr>
        <p:spPr>
          <a:xfrm>
            <a:off x="850220" y="2641680"/>
            <a:ext cx="15311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平均からの偏差</a:t>
            </a:r>
          </a:p>
        </p:txBody>
      </p:sp>
      <p:graphicFrame>
        <p:nvGraphicFramePr>
          <p:cNvPr id="18" name="表 17">
            <a:extLst>
              <a:ext uri="{FF2B5EF4-FFF2-40B4-BE49-F238E27FC236}">
                <a16:creationId xmlns:a16="http://schemas.microsoft.com/office/drawing/2014/main" id="{106C4502-26A2-B8C7-4113-EC5496F339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262490"/>
              </p:ext>
            </p:extLst>
          </p:nvPr>
        </p:nvGraphicFramePr>
        <p:xfrm>
          <a:off x="1311120" y="3034609"/>
          <a:ext cx="2625956" cy="119251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0156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3831523211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1726811639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3414967065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1277688133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3669988584"/>
                    </a:ext>
                  </a:extLst>
                </a:gridCol>
              </a:tblGrid>
              <a:tr h="282916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  <a:ea typeface="游ゴシック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Cntl_01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Cntl</a:t>
                      </a:r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_02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Cntl</a:t>
                      </a:r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_03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Cntl</a:t>
                      </a:r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_04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Cntl</a:t>
                      </a:r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_05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195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5.0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195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2.5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195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2.5</a:t>
                      </a:r>
                      <a:endParaRPr kumimoji="1" lang="en-US" altLang="ja-JP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Helvetica" pitchFamily="2" charset="0"/>
                        <a:ea typeface="游ゴシック" panose="020B0400000000000000" pitchFamily="34" charset="-128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2.5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  <a:tr h="219548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SNP_D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5.0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39879011"/>
                  </a:ext>
                </a:extLst>
              </a:tr>
            </a:tbl>
          </a:graphicData>
        </a:graphic>
      </p:graphicFrame>
      <p:graphicFrame>
        <p:nvGraphicFramePr>
          <p:cNvPr id="19" name="表 18">
            <a:extLst>
              <a:ext uri="{FF2B5EF4-FFF2-40B4-BE49-F238E27FC236}">
                <a16:creationId xmlns:a16="http://schemas.microsoft.com/office/drawing/2014/main" id="{257B5A93-D3C5-8F4B-D7A5-F63A234835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0457928"/>
              </p:ext>
            </p:extLst>
          </p:nvPr>
        </p:nvGraphicFramePr>
        <p:xfrm>
          <a:off x="4054155" y="3034608"/>
          <a:ext cx="2624930" cy="118175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79850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369016">
                  <a:extLst>
                    <a:ext uri="{9D8B030D-6E8A-4147-A177-3AD203B41FA5}">
                      <a16:colId xmlns:a16="http://schemas.microsoft.com/office/drawing/2014/main" val="3831523211"/>
                    </a:ext>
                  </a:extLst>
                </a:gridCol>
                <a:gridCol w="369016">
                  <a:extLst>
                    <a:ext uri="{9D8B030D-6E8A-4147-A177-3AD203B41FA5}">
                      <a16:colId xmlns:a16="http://schemas.microsoft.com/office/drawing/2014/main" val="1726811639"/>
                    </a:ext>
                  </a:extLst>
                </a:gridCol>
                <a:gridCol w="369016">
                  <a:extLst>
                    <a:ext uri="{9D8B030D-6E8A-4147-A177-3AD203B41FA5}">
                      <a16:colId xmlns:a16="http://schemas.microsoft.com/office/drawing/2014/main" val="3414967065"/>
                    </a:ext>
                  </a:extLst>
                </a:gridCol>
                <a:gridCol w="369016">
                  <a:extLst>
                    <a:ext uri="{9D8B030D-6E8A-4147-A177-3AD203B41FA5}">
                      <a16:colId xmlns:a16="http://schemas.microsoft.com/office/drawing/2014/main" val="1277688133"/>
                    </a:ext>
                  </a:extLst>
                </a:gridCol>
                <a:gridCol w="369016">
                  <a:extLst>
                    <a:ext uri="{9D8B030D-6E8A-4147-A177-3AD203B41FA5}">
                      <a16:colId xmlns:a16="http://schemas.microsoft.com/office/drawing/2014/main" val="3669988584"/>
                    </a:ext>
                  </a:extLst>
                </a:gridCol>
              </a:tblGrid>
              <a:tr h="290984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  <a:ea typeface="游ゴシック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ASD_05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168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5.0</a:t>
                      </a:r>
                      <a:endParaRPr lang="en-US" altLang="ja-JP" sz="1000" b="0" i="0" u="none" strike="noStrike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游ゴシック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5.0</a:t>
                      </a:r>
                      <a:endParaRPr lang="en-US" altLang="ja-JP" sz="1000" b="0" i="0" u="none" strike="noStrike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游ゴシック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5.0</a:t>
                      </a:r>
                      <a:endParaRPr lang="en-US" altLang="ja-JP" sz="1000" b="0" i="0" u="none" strike="noStrike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游ゴシック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5.0</a:t>
                      </a:r>
                      <a:endParaRPr lang="en-US" altLang="ja-JP" sz="1000" b="0" i="0" u="none" strike="noStrike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游ゴシック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168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2.5</a:t>
                      </a:r>
                      <a:endParaRPr kumimoji="1" lang="en-US" altLang="ja-JP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Helvetica" pitchFamily="2" charset="0"/>
                        <a:ea typeface="游ゴシック" panose="020B0400000000000000" pitchFamily="34" charset="-128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2.5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2.5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168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2.5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2.5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2.5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  <a:tr h="216858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SNP_D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5.0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03320115"/>
                  </a:ext>
                </a:extLst>
              </a:tr>
            </a:tbl>
          </a:graphicData>
        </a:graphic>
      </p:graphicFrame>
      <p:sp>
        <p:nvSpPr>
          <p:cNvPr id="20" name="右矢印 19">
            <a:extLst>
              <a:ext uri="{FF2B5EF4-FFF2-40B4-BE49-F238E27FC236}">
                <a16:creationId xmlns:a16="http://schemas.microsoft.com/office/drawing/2014/main" id="{CE084155-1EF1-0A0F-4398-12344060089E}"/>
              </a:ext>
            </a:extLst>
          </p:cNvPr>
          <p:cNvSpPr/>
          <p:nvPr/>
        </p:nvSpPr>
        <p:spPr>
          <a:xfrm rot="5400000">
            <a:off x="2165727" y="2459693"/>
            <a:ext cx="489760" cy="369332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A4F0E6C4-E48F-606D-E68C-654E19920AC1}"/>
              </a:ext>
            </a:extLst>
          </p:cNvPr>
          <p:cNvSpPr txBox="1"/>
          <p:nvPr/>
        </p:nvSpPr>
        <p:spPr>
          <a:xfrm>
            <a:off x="8579154" y="3299094"/>
            <a:ext cx="213770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500" dirty="0" err="1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RFscore</a:t>
            </a:r>
            <a:r>
              <a:rPr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の場合</a:t>
            </a:r>
            <a:endParaRPr lang="en-US" altLang="ja-JP" sz="1500" dirty="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  <a:p>
            <a:r>
              <a:rPr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Cntl01 &lt; ASD03</a:t>
            </a:r>
            <a:r>
              <a:rPr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となる</a:t>
            </a:r>
          </a:p>
        </p:txBody>
      </p:sp>
      <p:sp>
        <p:nvSpPr>
          <p:cNvPr id="155" name="テキスト ボックス 154">
            <a:extLst>
              <a:ext uri="{FF2B5EF4-FFF2-40B4-BE49-F238E27FC236}">
                <a16:creationId xmlns:a16="http://schemas.microsoft.com/office/drawing/2014/main" id="{3FD30CC0-0AE5-78E9-D923-F8C0EE3954ED}"/>
              </a:ext>
            </a:extLst>
          </p:cNvPr>
          <p:cNvSpPr txBox="1"/>
          <p:nvPr/>
        </p:nvSpPr>
        <p:spPr>
          <a:xfrm>
            <a:off x="11274970" y="5240512"/>
            <a:ext cx="1847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ja-JP" altLang="en-US" sz="150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1465A17-03C8-7AEE-6EA0-748A7B29AA64}"/>
              </a:ext>
            </a:extLst>
          </p:cNvPr>
          <p:cNvSpPr/>
          <p:nvPr/>
        </p:nvSpPr>
        <p:spPr>
          <a:xfrm flipH="1">
            <a:off x="1311117" y="2076044"/>
            <a:ext cx="5367965" cy="20363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208AFC9-936C-C0C2-0315-03E47BBF20AA}"/>
              </a:ext>
            </a:extLst>
          </p:cNvPr>
          <p:cNvSpPr/>
          <p:nvPr/>
        </p:nvSpPr>
        <p:spPr>
          <a:xfrm flipH="1">
            <a:off x="1321501" y="3990828"/>
            <a:ext cx="5367964" cy="22553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C58AEA9-4CBD-DD94-646A-20F896C31C6B}"/>
              </a:ext>
            </a:extLst>
          </p:cNvPr>
          <p:cNvSpPr txBox="1"/>
          <p:nvPr/>
        </p:nvSpPr>
        <p:spPr>
          <a:xfrm>
            <a:off x="7026764" y="733369"/>
            <a:ext cx="3377848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>
                <a:latin typeface="Helvetica" pitchFamily="2" charset="0"/>
                <a:ea typeface="BIZ UDGothic" panose="020B0400000000000000" pitchFamily="49" charset="-128"/>
              </a:rPr>
              <a:t>例</a:t>
            </a:r>
            <a:r>
              <a:rPr lang="en-US" altLang="ja-JP" sz="1400" dirty="0">
                <a:latin typeface="Helvetica" pitchFamily="2" charset="0"/>
                <a:ea typeface="BIZ UDGothic" panose="020B0400000000000000" pitchFamily="49" charset="-128"/>
              </a:rPr>
              <a:t>) </a:t>
            </a:r>
          </a:p>
          <a:p>
            <a:r>
              <a:rPr lang="en-US" altLang="ja-JP" sz="1400" dirty="0">
                <a:latin typeface="Helvetica" pitchFamily="2" charset="0"/>
                <a:ea typeface="BIZ UDGothic" panose="020B0400000000000000" pitchFamily="49" charset="-128"/>
              </a:rPr>
              <a:t>SNP_D</a:t>
            </a:r>
            <a:r>
              <a:rPr lang="ja-JP" altLang="en-US" sz="1400">
                <a:latin typeface="Helvetica" pitchFamily="2" charset="0"/>
                <a:ea typeface="BIZ UDGothic" panose="020B0400000000000000" pitchFamily="49" charset="-128"/>
              </a:rPr>
              <a:t>のような</a:t>
            </a:r>
            <a:r>
              <a:rPr lang="en-US" altLang="ja-JP" sz="1400" dirty="0">
                <a:latin typeface="Helvetica" pitchFamily="2" charset="0"/>
                <a:ea typeface="BIZ UDGothic" panose="020B0400000000000000" pitchFamily="49" charset="-128"/>
              </a:rPr>
              <a:t>Allele</a:t>
            </a:r>
            <a:r>
              <a:rPr lang="ja-JP" altLang="en-US" sz="1400">
                <a:latin typeface="Helvetica" pitchFamily="2" charset="0"/>
                <a:ea typeface="BIZ UDGothic" panose="020B0400000000000000" pitchFamily="49" charset="-128"/>
              </a:rPr>
              <a:t>の存在を仮定する</a:t>
            </a:r>
            <a:endParaRPr lang="en-US" altLang="ja-JP" sz="1400" dirty="0">
              <a:latin typeface="Helvetica" pitchFamily="2" charset="0"/>
              <a:ea typeface="BIZ UDGothic" panose="020B0400000000000000" pitchFamily="49" charset="-128"/>
            </a:endParaRPr>
          </a:p>
          <a:p>
            <a:r>
              <a:rPr lang="ja-JP" altLang="en-US" sz="1400">
                <a:latin typeface="Helvetica" pitchFamily="2" charset="0"/>
                <a:ea typeface="BIZ UDGothic" panose="020B0400000000000000" pitchFamily="49" charset="-128"/>
              </a:rPr>
              <a:t>健常者と患者で頻度同じ</a:t>
            </a:r>
            <a:endParaRPr lang="en-US" altLang="ja-JP" sz="1400" dirty="0">
              <a:latin typeface="Helvetica" pitchFamily="2" charset="0"/>
              <a:ea typeface="BIZ UDGothic" panose="020B0400000000000000" pitchFamily="49" charset="-128"/>
            </a:endParaRPr>
          </a:p>
          <a:p>
            <a:r>
              <a:rPr lang="ja-JP" altLang="en-US" sz="1400">
                <a:latin typeface="Helvetica" pitchFamily="2" charset="0"/>
                <a:ea typeface="BIZ UDGothic" panose="020B0400000000000000" pitchFamily="49" charset="-128"/>
              </a:rPr>
              <a:t>すなわち、</a:t>
            </a:r>
            <a:r>
              <a:rPr lang="en-US" altLang="ja-JP" sz="1400" dirty="0">
                <a:latin typeface="Helvetica" pitchFamily="2" charset="0"/>
                <a:ea typeface="BIZ UDGothic" panose="020B0400000000000000" pitchFamily="49" charset="-128"/>
              </a:rPr>
              <a:t>β=0</a:t>
            </a:r>
            <a:r>
              <a:rPr lang="ja-JP" altLang="en-US" sz="1400">
                <a:latin typeface="Helvetica" pitchFamily="2" charset="0"/>
                <a:ea typeface="BIZ UDGothic" panose="020B0400000000000000" pitchFamily="49" charset="-128"/>
              </a:rPr>
              <a:t>、</a:t>
            </a:r>
            <a:r>
              <a:rPr lang="en-US" altLang="ja-JP" sz="1400" dirty="0">
                <a:latin typeface="Helvetica" pitchFamily="2" charset="0"/>
                <a:ea typeface="BIZ UDGothic" panose="020B0400000000000000" pitchFamily="49" charset="-128"/>
              </a:rPr>
              <a:t>PRS</a:t>
            </a:r>
            <a:r>
              <a:rPr lang="ja-JP" altLang="en-US" sz="1400">
                <a:latin typeface="Helvetica" pitchFamily="2" charset="0"/>
                <a:ea typeface="BIZ UDGothic" panose="020B0400000000000000" pitchFamily="49" charset="-128"/>
              </a:rPr>
              <a:t>に影響しない</a:t>
            </a:r>
            <a:endParaRPr lang="en-US" altLang="ja-JP" sz="1400" dirty="0">
              <a:latin typeface="Helvetica" pitchFamily="2" charset="0"/>
              <a:ea typeface="BIZ UDGothic" panose="020B0400000000000000" pitchFamily="49" charset="-128"/>
            </a:endParaRPr>
          </a:p>
          <a:p>
            <a:endParaRPr lang="en-US" altLang="ja-JP" sz="1400" dirty="0">
              <a:latin typeface="Helvetica" pitchFamily="2" charset="0"/>
              <a:ea typeface="BIZ UDGothic" panose="020B0400000000000000" pitchFamily="49" charset="-128"/>
            </a:endParaRPr>
          </a:p>
          <a:p>
            <a:r>
              <a:rPr lang="ja-JP" altLang="en-US" sz="1400">
                <a:latin typeface="Helvetica" pitchFamily="2" charset="0"/>
                <a:ea typeface="BIZ UDGothic" panose="020B0400000000000000" pitchFamily="49" charset="-128"/>
              </a:rPr>
              <a:t>なし</a:t>
            </a:r>
            <a:endParaRPr lang="en-US" altLang="ja-JP" sz="1400" dirty="0">
              <a:latin typeface="Helvetica" pitchFamily="2" charset="0"/>
              <a:ea typeface="BIZ UDGothic" panose="020B0400000000000000" pitchFamily="49" charset="-128"/>
            </a:endParaRPr>
          </a:p>
          <a:p>
            <a:endParaRPr lang="en-US" altLang="ja-JP" sz="1400" dirty="0">
              <a:latin typeface="Helvetica" pitchFamily="2" charset="0"/>
              <a:ea typeface="BIZ UDGothic" panose="020B0400000000000000" pitchFamily="49" charset="-128"/>
            </a:endParaRPr>
          </a:p>
          <a:p>
            <a:endParaRPr lang="en-US" altLang="ja-JP" sz="1400" dirty="0">
              <a:latin typeface="Helvetica" pitchFamily="2" charset="0"/>
              <a:ea typeface="BIZ UDGothic" panose="020B0400000000000000" pitchFamily="49" charset="-128"/>
            </a:endParaRPr>
          </a:p>
          <a:p>
            <a:endParaRPr lang="en-US" altLang="ja-JP" sz="1400" dirty="0">
              <a:latin typeface="Helvetica" pitchFamily="2" charset="0"/>
              <a:ea typeface="BIZ UDGothic" panose="020B0400000000000000" pitchFamily="49" charset="-128"/>
            </a:endParaRPr>
          </a:p>
          <a:p>
            <a:endParaRPr lang="en-US" altLang="ja-JP" sz="1400" dirty="0">
              <a:latin typeface="Helvetica" pitchFamily="2" charset="0"/>
              <a:ea typeface="BIZ UDGothic" panose="020B0400000000000000" pitchFamily="49" charset="-128"/>
            </a:endParaRPr>
          </a:p>
          <a:p>
            <a:endParaRPr lang="ja-JP" altLang="en-US" sz="1400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B3D4B03-309D-0F92-EDB7-98C33D3BF2CF}"/>
              </a:ext>
            </a:extLst>
          </p:cNvPr>
          <p:cNvSpPr/>
          <p:nvPr/>
        </p:nvSpPr>
        <p:spPr>
          <a:xfrm>
            <a:off x="2116582" y="4546134"/>
            <a:ext cx="311153" cy="16184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C000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303479B-A400-5CAA-2B7E-28C5A5420105}"/>
              </a:ext>
            </a:extLst>
          </p:cNvPr>
          <p:cNvSpPr txBox="1"/>
          <p:nvPr/>
        </p:nvSpPr>
        <p:spPr>
          <a:xfrm>
            <a:off x="2119712" y="4546134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A</a:t>
            </a:r>
            <a:endParaRPr lang="ja-JP" altLang="en-US" sz="14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3C4BBA8-89BB-8967-F4C0-36329B2B76C0}"/>
              </a:ext>
            </a:extLst>
          </p:cNvPr>
          <p:cNvSpPr txBox="1"/>
          <p:nvPr/>
        </p:nvSpPr>
        <p:spPr>
          <a:xfrm>
            <a:off x="2119712" y="5283730"/>
            <a:ext cx="304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400" dirty="0">
                <a:solidFill>
                  <a:srgbClr val="FFC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B</a:t>
            </a:r>
            <a:endParaRPr lang="ja-JP" altLang="en-US" sz="1400">
              <a:solidFill>
                <a:srgbClr val="FFC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D070316C-1269-5FE6-E153-B0FA968A54A5}"/>
              </a:ext>
            </a:extLst>
          </p:cNvPr>
          <p:cNvSpPr/>
          <p:nvPr/>
        </p:nvSpPr>
        <p:spPr>
          <a:xfrm>
            <a:off x="5599242" y="4546134"/>
            <a:ext cx="311153" cy="16184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C000"/>
              </a:solidFill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8D8AAE16-B19F-07CF-F1C7-0CA6D5DF0F2F}"/>
              </a:ext>
            </a:extLst>
          </p:cNvPr>
          <p:cNvSpPr txBox="1"/>
          <p:nvPr/>
        </p:nvSpPr>
        <p:spPr>
          <a:xfrm>
            <a:off x="5602372" y="4546134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A</a:t>
            </a:r>
            <a:endParaRPr lang="ja-JP" altLang="en-US" sz="14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C1CE6A8F-67EA-3BC2-5E4E-1AC2CC81179B}"/>
              </a:ext>
            </a:extLst>
          </p:cNvPr>
          <p:cNvSpPr txBox="1"/>
          <p:nvPr/>
        </p:nvSpPr>
        <p:spPr>
          <a:xfrm>
            <a:off x="5602372" y="5283730"/>
            <a:ext cx="304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400" dirty="0">
                <a:solidFill>
                  <a:srgbClr val="FFC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B</a:t>
            </a:r>
            <a:endParaRPr lang="ja-JP" altLang="en-US" sz="1400">
              <a:solidFill>
                <a:srgbClr val="FFC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544E77A4-93AE-F93D-752E-66B9B4F6BF38}"/>
              </a:ext>
            </a:extLst>
          </p:cNvPr>
          <p:cNvSpPr/>
          <p:nvPr/>
        </p:nvSpPr>
        <p:spPr>
          <a:xfrm>
            <a:off x="10072288" y="4546134"/>
            <a:ext cx="311153" cy="16184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C000"/>
              </a:solidFill>
            </a:endParaRPr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980597E9-E9C8-DAD4-B6C9-D444A1B2C4B7}"/>
              </a:ext>
            </a:extLst>
          </p:cNvPr>
          <p:cNvSpPr txBox="1"/>
          <p:nvPr/>
        </p:nvSpPr>
        <p:spPr>
          <a:xfrm>
            <a:off x="10075418" y="4546134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A</a:t>
            </a:r>
            <a:endParaRPr lang="ja-JP" altLang="en-US" sz="14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20FA6E92-B899-DD57-2BE3-F0C2DE956C59}"/>
              </a:ext>
            </a:extLst>
          </p:cNvPr>
          <p:cNvSpPr txBox="1"/>
          <p:nvPr/>
        </p:nvSpPr>
        <p:spPr>
          <a:xfrm>
            <a:off x="10010497" y="5283730"/>
            <a:ext cx="434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400" dirty="0">
                <a:solidFill>
                  <a:srgbClr val="FFC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BC</a:t>
            </a:r>
            <a:endParaRPr lang="ja-JP" altLang="en-US" sz="1400">
              <a:solidFill>
                <a:srgbClr val="FFC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1B900279-1E15-6B3D-897A-5DCE205CD490}"/>
              </a:ext>
            </a:extLst>
          </p:cNvPr>
          <p:cNvSpPr txBox="1"/>
          <p:nvPr/>
        </p:nvSpPr>
        <p:spPr>
          <a:xfrm>
            <a:off x="9825026" y="4116315"/>
            <a:ext cx="825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4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β</a:t>
            </a:r>
            <a:r>
              <a:rPr lang="ja-JP" altLang="en-US" sz="14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リスト</a:t>
            </a: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2A53A05A-9BAC-4F2F-6C3A-5E082953EDBB}"/>
              </a:ext>
            </a:extLst>
          </p:cNvPr>
          <p:cNvSpPr txBox="1"/>
          <p:nvPr/>
        </p:nvSpPr>
        <p:spPr>
          <a:xfrm>
            <a:off x="2681987" y="520859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SNP_D</a:t>
            </a:r>
          </a:p>
          <a:p>
            <a:r>
              <a:rPr lang="ja-JP" altLang="en-US" sz="12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がこの辺りに入る</a:t>
            </a: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34B0B48F-D679-9A1E-409F-FFA85B21B7F0}"/>
              </a:ext>
            </a:extLst>
          </p:cNvPr>
          <p:cNvSpPr txBox="1"/>
          <p:nvPr/>
        </p:nvSpPr>
        <p:spPr>
          <a:xfrm>
            <a:off x="9648005" y="506536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vs</a:t>
            </a:r>
            <a:endParaRPr lang="ja-JP" altLang="en-US" sz="140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51BB7D6C-9FE2-DA36-5DCC-ED1C90DDF05F}"/>
              </a:ext>
            </a:extLst>
          </p:cNvPr>
          <p:cNvSpPr txBox="1"/>
          <p:nvPr/>
        </p:nvSpPr>
        <p:spPr>
          <a:xfrm>
            <a:off x="850220" y="4415150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個人毎</a:t>
            </a:r>
            <a:endParaRPr lang="en-US" altLang="ja-JP" sz="1500" dirty="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  <a:p>
            <a:r>
              <a:rPr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偏差リスト</a:t>
            </a:r>
          </a:p>
        </p:txBody>
      </p: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5C296101-CFF1-5E47-1A9B-1CEEDDA74A1F}"/>
              </a:ext>
            </a:extLst>
          </p:cNvPr>
          <p:cNvSpPr/>
          <p:nvPr/>
        </p:nvSpPr>
        <p:spPr>
          <a:xfrm flipH="1">
            <a:off x="5564127" y="3023848"/>
            <a:ext cx="380538" cy="119251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AA543959-823E-E0FB-C9F9-7E6D9BB2196D}"/>
              </a:ext>
            </a:extLst>
          </p:cNvPr>
          <p:cNvSpPr/>
          <p:nvPr/>
        </p:nvSpPr>
        <p:spPr>
          <a:xfrm flipH="1">
            <a:off x="2085213" y="3023848"/>
            <a:ext cx="380538" cy="119251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0" name="直線コネクタ 99">
            <a:extLst>
              <a:ext uri="{FF2B5EF4-FFF2-40B4-BE49-F238E27FC236}">
                <a16:creationId xmlns:a16="http://schemas.microsoft.com/office/drawing/2014/main" id="{65FFF094-7A7F-1088-7302-80F28750724D}"/>
              </a:ext>
            </a:extLst>
          </p:cNvPr>
          <p:cNvCxnSpPr>
            <a:cxnSpLocks/>
          </p:cNvCxnSpPr>
          <p:nvPr/>
        </p:nvCxnSpPr>
        <p:spPr>
          <a:xfrm flipH="1" flipV="1">
            <a:off x="2348366" y="4892155"/>
            <a:ext cx="384463" cy="316441"/>
          </a:xfrm>
          <a:prstGeom prst="line">
            <a:avLst/>
          </a:prstGeom>
          <a:ln>
            <a:headEnd type="oval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4" name="テキスト ボックス 103">
            <a:extLst>
              <a:ext uri="{FF2B5EF4-FFF2-40B4-BE49-F238E27FC236}">
                <a16:creationId xmlns:a16="http://schemas.microsoft.com/office/drawing/2014/main" id="{74339B21-F58F-0AC6-943D-F8E0C625B486}"/>
              </a:ext>
            </a:extLst>
          </p:cNvPr>
          <p:cNvSpPr txBox="1"/>
          <p:nvPr/>
        </p:nvSpPr>
        <p:spPr>
          <a:xfrm>
            <a:off x="4343989" y="5671469"/>
            <a:ext cx="9541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こちらには</a:t>
            </a:r>
            <a:endParaRPr lang="en-US" altLang="ja-JP" sz="1200" dirty="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  <a:p>
            <a:r>
              <a:rPr lang="en-US" altLang="ja-JP" sz="12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SNP_D</a:t>
            </a:r>
          </a:p>
          <a:p>
            <a:r>
              <a:rPr lang="ja-JP" altLang="en-US" sz="12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は入らない</a:t>
            </a:r>
          </a:p>
        </p:txBody>
      </p:sp>
      <p:cxnSp>
        <p:nvCxnSpPr>
          <p:cNvPr id="105" name="直線コネクタ 104">
            <a:extLst>
              <a:ext uri="{FF2B5EF4-FFF2-40B4-BE49-F238E27FC236}">
                <a16:creationId xmlns:a16="http://schemas.microsoft.com/office/drawing/2014/main" id="{31BBD3D5-FD29-D2D0-D069-74DB0FD870D2}"/>
              </a:ext>
            </a:extLst>
          </p:cNvPr>
          <p:cNvCxnSpPr>
            <a:cxnSpLocks/>
            <a:stCxn id="104" idx="0"/>
          </p:cNvCxnSpPr>
          <p:nvPr/>
        </p:nvCxnSpPr>
        <p:spPr>
          <a:xfrm flipV="1">
            <a:off x="4821043" y="5196210"/>
            <a:ext cx="653442" cy="475259"/>
          </a:xfrm>
          <a:prstGeom prst="line">
            <a:avLst/>
          </a:prstGeom>
          <a:ln>
            <a:headEnd type="oval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8" name="テキスト ボックス 107">
            <a:extLst>
              <a:ext uri="{FF2B5EF4-FFF2-40B4-BE49-F238E27FC236}">
                <a16:creationId xmlns:a16="http://schemas.microsoft.com/office/drawing/2014/main" id="{01453F2B-876A-D2CB-30E7-D8AD0C15BEEC}"/>
              </a:ext>
            </a:extLst>
          </p:cNvPr>
          <p:cNvSpPr txBox="1"/>
          <p:nvPr/>
        </p:nvSpPr>
        <p:spPr>
          <a:xfrm>
            <a:off x="2749593" y="5855632"/>
            <a:ext cx="126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SNP_B</a:t>
            </a:r>
            <a:r>
              <a:rPr lang="ja-JP" altLang="en-US" sz="12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は</a:t>
            </a:r>
            <a:endParaRPr lang="en-US" altLang="ja-JP" sz="1200" dirty="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  <a:p>
            <a:r>
              <a:rPr lang="ja-JP" altLang="en-US" sz="12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相対的に</a:t>
            </a:r>
            <a:endParaRPr lang="en-US" altLang="ja-JP" sz="1200" dirty="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  <a:p>
            <a:r>
              <a:rPr lang="ja-JP" altLang="en-US" sz="12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ランクが下がる</a:t>
            </a:r>
            <a:endParaRPr lang="en-US" altLang="ja-JP" sz="1200" dirty="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cxnSp>
        <p:nvCxnSpPr>
          <p:cNvPr id="110" name="直線コネクタ 109">
            <a:extLst>
              <a:ext uri="{FF2B5EF4-FFF2-40B4-BE49-F238E27FC236}">
                <a16:creationId xmlns:a16="http://schemas.microsoft.com/office/drawing/2014/main" id="{BB2ED52E-158E-D006-38D8-9DDF674F5F68}"/>
              </a:ext>
            </a:extLst>
          </p:cNvPr>
          <p:cNvCxnSpPr>
            <a:cxnSpLocks/>
          </p:cNvCxnSpPr>
          <p:nvPr/>
        </p:nvCxnSpPr>
        <p:spPr>
          <a:xfrm flipH="1" flipV="1">
            <a:off x="2317423" y="5519081"/>
            <a:ext cx="415406" cy="356061"/>
          </a:xfrm>
          <a:prstGeom prst="line">
            <a:avLst/>
          </a:prstGeom>
          <a:ln>
            <a:headEnd type="oval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8" name="正方形/長方形 117">
            <a:extLst>
              <a:ext uri="{FF2B5EF4-FFF2-40B4-BE49-F238E27FC236}">
                <a16:creationId xmlns:a16="http://schemas.microsoft.com/office/drawing/2014/main" id="{685D9A32-9646-17D3-4967-E1D9C753CE1A}"/>
              </a:ext>
            </a:extLst>
          </p:cNvPr>
          <p:cNvSpPr/>
          <p:nvPr/>
        </p:nvSpPr>
        <p:spPr>
          <a:xfrm>
            <a:off x="8786190" y="4546134"/>
            <a:ext cx="311153" cy="16184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C000"/>
              </a:solidFill>
            </a:endParaRPr>
          </a:p>
        </p:txBody>
      </p:sp>
      <p:sp>
        <p:nvSpPr>
          <p:cNvPr id="119" name="テキスト ボックス 118">
            <a:extLst>
              <a:ext uri="{FF2B5EF4-FFF2-40B4-BE49-F238E27FC236}">
                <a16:creationId xmlns:a16="http://schemas.microsoft.com/office/drawing/2014/main" id="{99211D57-B5B8-A06E-F31F-34A439211238}"/>
              </a:ext>
            </a:extLst>
          </p:cNvPr>
          <p:cNvSpPr txBox="1"/>
          <p:nvPr/>
        </p:nvSpPr>
        <p:spPr>
          <a:xfrm>
            <a:off x="8789320" y="4546134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A</a:t>
            </a:r>
            <a:endParaRPr lang="ja-JP" altLang="en-US" sz="14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120" name="テキスト ボックス 119">
            <a:extLst>
              <a:ext uri="{FF2B5EF4-FFF2-40B4-BE49-F238E27FC236}">
                <a16:creationId xmlns:a16="http://schemas.microsoft.com/office/drawing/2014/main" id="{E7A11A4D-F64A-0741-BE93-B232D121F6ED}"/>
              </a:ext>
            </a:extLst>
          </p:cNvPr>
          <p:cNvSpPr txBox="1"/>
          <p:nvPr/>
        </p:nvSpPr>
        <p:spPr>
          <a:xfrm>
            <a:off x="8789320" y="5609647"/>
            <a:ext cx="304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400" dirty="0">
                <a:solidFill>
                  <a:srgbClr val="FFC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B</a:t>
            </a:r>
            <a:endParaRPr lang="ja-JP" altLang="en-US" sz="1400">
              <a:solidFill>
                <a:srgbClr val="FFC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1DA74E4C-C41F-30F1-294F-AF36828ED985}"/>
              </a:ext>
            </a:extLst>
          </p:cNvPr>
          <p:cNvSpPr/>
          <p:nvPr/>
        </p:nvSpPr>
        <p:spPr>
          <a:xfrm>
            <a:off x="9234786" y="4546134"/>
            <a:ext cx="311153" cy="16184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C000"/>
              </a:solidFill>
            </a:endParaRPr>
          </a:p>
        </p:txBody>
      </p:sp>
      <p:sp>
        <p:nvSpPr>
          <p:cNvPr id="124" name="テキスト ボックス 123">
            <a:extLst>
              <a:ext uri="{FF2B5EF4-FFF2-40B4-BE49-F238E27FC236}">
                <a16:creationId xmlns:a16="http://schemas.microsoft.com/office/drawing/2014/main" id="{775F251B-5937-C477-CC0C-544BFFAAC172}"/>
              </a:ext>
            </a:extLst>
          </p:cNvPr>
          <p:cNvSpPr txBox="1"/>
          <p:nvPr/>
        </p:nvSpPr>
        <p:spPr>
          <a:xfrm>
            <a:off x="9237916" y="4546134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A</a:t>
            </a:r>
            <a:endParaRPr lang="ja-JP" altLang="en-US" sz="14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125" name="テキスト ボックス 124">
            <a:extLst>
              <a:ext uri="{FF2B5EF4-FFF2-40B4-BE49-F238E27FC236}">
                <a16:creationId xmlns:a16="http://schemas.microsoft.com/office/drawing/2014/main" id="{FB7EDE73-B58C-4F67-EC60-A808F1C24B3C}"/>
              </a:ext>
            </a:extLst>
          </p:cNvPr>
          <p:cNvSpPr txBox="1"/>
          <p:nvPr/>
        </p:nvSpPr>
        <p:spPr>
          <a:xfrm>
            <a:off x="9237916" y="5283730"/>
            <a:ext cx="304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400" dirty="0">
                <a:solidFill>
                  <a:srgbClr val="FFC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B</a:t>
            </a:r>
            <a:endParaRPr lang="ja-JP" altLang="en-US" sz="1400">
              <a:solidFill>
                <a:srgbClr val="FFC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126" name="テキスト ボックス 125">
            <a:extLst>
              <a:ext uri="{FF2B5EF4-FFF2-40B4-BE49-F238E27FC236}">
                <a16:creationId xmlns:a16="http://schemas.microsoft.com/office/drawing/2014/main" id="{D219E1B3-4028-FCC9-B9FB-4720004260EE}"/>
              </a:ext>
            </a:extLst>
          </p:cNvPr>
          <p:cNvSpPr txBox="1"/>
          <p:nvPr/>
        </p:nvSpPr>
        <p:spPr>
          <a:xfrm>
            <a:off x="8784399" y="4780273"/>
            <a:ext cx="314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D</a:t>
            </a:r>
            <a:endParaRPr lang="ja-JP" altLang="en-US" sz="140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127" name="テキスト ボックス 126">
            <a:extLst>
              <a:ext uri="{FF2B5EF4-FFF2-40B4-BE49-F238E27FC236}">
                <a16:creationId xmlns:a16="http://schemas.microsoft.com/office/drawing/2014/main" id="{F628C752-D330-DE79-BB8D-2746FD5D0C8B}"/>
              </a:ext>
            </a:extLst>
          </p:cNvPr>
          <p:cNvSpPr txBox="1"/>
          <p:nvPr/>
        </p:nvSpPr>
        <p:spPr>
          <a:xfrm rot="19133431">
            <a:off x="8726700" y="4050145"/>
            <a:ext cx="7024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latin typeface="Helvetica" pitchFamily="2" charset="0"/>
                <a:ea typeface="BIZ UDGothic" panose="020B0400000000000000" pitchFamily="49" charset="-128"/>
              </a:rPr>
              <a:t>Cntl01</a:t>
            </a:r>
          </a:p>
        </p:txBody>
      </p:sp>
      <p:sp>
        <p:nvSpPr>
          <p:cNvPr id="128" name="テキスト ボックス 127">
            <a:extLst>
              <a:ext uri="{FF2B5EF4-FFF2-40B4-BE49-F238E27FC236}">
                <a16:creationId xmlns:a16="http://schemas.microsoft.com/office/drawing/2014/main" id="{BB1A3C24-63C7-F0E1-D488-73BBFB3275FD}"/>
              </a:ext>
            </a:extLst>
          </p:cNvPr>
          <p:cNvSpPr txBox="1"/>
          <p:nvPr/>
        </p:nvSpPr>
        <p:spPr>
          <a:xfrm rot="19133431">
            <a:off x="9204287" y="4033282"/>
            <a:ext cx="753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latin typeface="Helvetica" pitchFamily="2" charset="0"/>
                <a:ea typeface="BIZ UDGothic" panose="020B0400000000000000" pitchFamily="49" charset="-128"/>
              </a:rPr>
              <a:t>ASD03</a:t>
            </a:r>
            <a:endParaRPr lang="ja-JP" altLang="en-US" sz="1400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129" name="右矢印 128">
            <a:extLst>
              <a:ext uri="{FF2B5EF4-FFF2-40B4-BE49-F238E27FC236}">
                <a16:creationId xmlns:a16="http://schemas.microsoft.com/office/drawing/2014/main" id="{23DA02A0-3BB8-96D1-16F1-4685DFCF397D}"/>
              </a:ext>
            </a:extLst>
          </p:cNvPr>
          <p:cNvSpPr/>
          <p:nvPr/>
        </p:nvSpPr>
        <p:spPr>
          <a:xfrm>
            <a:off x="7139998" y="5099064"/>
            <a:ext cx="644265" cy="369332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663A329-BCEB-B8C6-30B2-68841DD43A42}"/>
              </a:ext>
            </a:extLst>
          </p:cNvPr>
          <p:cNvSpPr txBox="1"/>
          <p:nvPr/>
        </p:nvSpPr>
        <p:spPr>
          <a:xfrm>
            <a:off x="5599242" y="2127567"/>
            <a:ext cx="2262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個人毎に偏差を出す</a:t>
            </a:r>
            <a:endParaRPr kumimoji="1" lang="en-US" altLang="ja-JP" dirty="0"/>
          </a:p>
          <a:p>
            <a:r>
              <a:rPr lang="en-US" altLang="ja-JP" dirty="0"/>
              <a:t>Beta</a:t>
            </a:r>
            <a:r>
              <a:rPr lang="ja-JP" altLang="en-US"/>
              <a:t>とは関係ない</a:t>
            </a:r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F63717D-4187-BB36-5429-8C6C800A5926}"/>
              </a:ext>
            </a:extLst>
          </p:cNvPr>
          <p:cNvSpPr txBox="1"/>
          <p:nvPr/>
        </p:nvSpPr>
        <p:spPr>
          <a:xfrm>
            <a:off x="2965391" y="2649196"/>
            <a:ext cx="8787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その</a:t>
            </a:r>
            <a:r>
              <a:rPr kumimoji="1" lang="en-US" altLang="ja-JP" dirty="0"/>
              <a:t>allele</a:t>
            </a:r>
            <a:r>
              <a:rPr kumimoji="1" lang="ja-JP" altLang="en-US"/>
              <a:t>が</a:t>
            </a:r>
            <a:r>
              <a:rPr kumimoji="1" lang="ja-JP" altLang="en-US">
                <a:solidFill>
                  <a:srgbClr val="FF0000"/>
                </a:solidFill>
              </a:rPr>
              <a:t>健常者</a:t>
            </a:r>
            <a:r>
              <a:rPr kumimoji="1" lang="ja-JP" altLang="en-US"/>
              <a:t>平均からどのくらい逸脱しているか</a:t>
            </a:r>
            <a:r>
              <a:rPr kumimoji="1" lang="en-US" altLang="ja-JP" dirty="0"/>
              <a:t>=</a:t>
            </a:r>
            <a:r>
              <a:rPr kumimoji="1" lang="ja-JP" altLang="en-US"/>
              <a:t>その個人において特徴的か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54A328A-EB1F-9643-98BE-59EE48A8A328}"/>
              </a:ext>
            </a:extLst>
          </p:cNvPr>
          <p:cNvSpPr txBox="1"/>
          <p:nvPr/>
        </p:nvSpPr>
        <p:spPr>
          <a:xfrm>
            <a:off x="623843" y="3050849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fc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5410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848</TotalTime>
  <Words>2018</Words>
  <Application>Microsoft Macintosh PowerPoint</Application>
  <PresentationFormat>ワイド画面</PresentationFormat>
  <Paragraphs>1125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游ゴシック</vt:lpstr>
      <vt:lpstr>游ゴシック Light</vt:lpstr>
      <vt:lpstr>Arial</vt:lpstr>
      <vt:lpstr>Helvetica</vt:lpstr>
      <vt:lpstr>Office テーマ</vt:lpstr>
      <vt:lpstr>RFind for genotype data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村野 友幸</dc:creator>
  <cp:lastModifiedBy>村野 友幸</cp:lastModifiedBy>
  <cp:revision>67</cp:revision>
  <dcterms:created xsi:type="dcterms:W3CDTF">2025-06-05T00:47:54Z</dcterms:created>
  <dcterms:modified xsi:type="dcterms:W3CDTF">2026-04-28T06:27:56Z</dcterms:modified>
</cp:coreProperties>
</file>